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9"/>
  </p:notesMasterIdLst>
  <p:sldIdLst>
    <p:sldId id="257" r:id="rId2"/>
    <p:sldId id="258" r:id="rId3"/>
    <p:sldId id="260" r:id="rId4"/>
    <p:sldId id="261" r:id="rId5"/>
    <p:sldId id="267" r:id="rId6"/>
    <p:sldId id="276" r:id="rId7"/>
    <p:sldId id="271" r:id="rId8"/>
    <p:sldId id="277" r:id="rId9"/>
    <p:sldId id="268" r:id="rId10"/>
    <p:sldId id="278" r:id="rId11"/>
    <p:sldId id="270" r:id="rId12"/>
    <p:sldId id="272" r:id="rId13"/>
    <p:sldId id="279" r:id="rId14"/>
    <p:sldId id="262" r:id="rId15"/>
    <p:sldId id="263" r:id="rId16"/>
    <p:sldId id="275" r:id="rId17"/>
    <p:sldId id="25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582C"/>
    <a:srgbClr val="F2F2F2"/>
    <a:srgbClr val="A6A6A6"/>
    <a:srgbClr val="D5D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02" autoAdjust="0"/>
    <p:restoredTop sz="94694"/>
  </p:normalViewPr>
  <p:slideViewPr>
    <p:cSldViewPr snapToGrid="0">
      <p:cViewPr varScale="1">
        <p:scale>
          <a:sx n="145" d="100"/>
          <a:sy n="145" d="100"/>
        </p:scale>
        <p:origin x="2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F0AC46-0068-435E-83AA-5798092D61BF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92DD0A-D121-4320-A6C0-B5B222C7F96E}">
      <dgm:prSet phldrT="[Text]"/>
      <dgm:spPr>
        <a:solidFill>
          <a:srgbClr val="BD582C"/>
        </a:solidFill>
        <a:ln>
          <a:solidFill>
            <a:srgbClr val="BD582C"/>
          </a:solidFill>
        </a:ln>
      </dgm:spPr>
      <dgm:t>
        <a:bodyPr/>
        <a:lstStyle/>
        <a:p>
          <a:r>
            <a:rPr lang="en-US" dirty="0"/>
            <a:t>Average </a:t>
          </a:r>
          <a:r>
            <a:rPr lang="en-US" dirty="0" err="1"/>
            <a:t>Custcomers</a:t>
          </a:r>
          <a:endParaRPr lang="en-US" dirty="0"/>
        </a:p>
      </dgm:t>
    </dgm:pt>
    <dgm:pt modelId="{EDBBA798-C3B0-44F8-AEEA-ADBF82396247}" type="parTrans" cxnId="{8DF43D63-9A26-4385-BBD7-6631C87005D5}">
      <dgm:prSet/>
      <dgm:spPr/>
      <dgm:t>
        <a:bodyPr/>
        <a:lstStyle/>
        <a:p>
          <a:endParaRPr lang="en-US"/>
        </a:p>
      </dgm:t>
    </dgm:pt>
    <dgm:pt modelId="{6B417541-5CDC-40B6-B5DB-9D7BA14FA674}" type="sibTrans" cxnId="{8DF43D63-9A26-4385-BBD7-6631C87005D5}">
      <dgm:prSet/>
      <dgm:spPr/>
      <dgm:t>
        <a:bodyPr/>
        <a:lstStyle/>
        <a:p>
          <a:endParaRPr lang="en-US"/>
        </a:p>
      </dgm:t>
    </dgm:pt>
    <dgm:pt modelId="{B13937DB-0245-4D61-820E-3AD7F84BE570}">
      <dgm:prSet phldrT="[Text]"/>
      <dgm:spPr>
        <a:solidFill>
          <a:srgbClr val="BD582C"/>
        </a:solidFill>
        <a:ln>
          <a:solidFill>
            <a:srgbClr val="BD582C"/>
          </a:solidFill>
        </a:ln>
      </dgm:spPr>
      <dgm:t>
        <a:bodyPr/>
        <a:lstStyle/>
        <a:p>
          <a:r>
            <a:rPr lang="en-US" dirty="0"/>
            <a:t>Little’s Law</a:t>
          </a:r>
        </a:p>
      </dgm:t>
    </dgm:pt>
    <dgm:pt modelId="{9F69D6AA-9C52-40E6-8AD2-90D63D27E024}" type="parTrans" cxnId="{0B5B6CC3-D7F5-4F07-BBFF-4511C239E97E}">
      <dgm:prSet/>
      <dgm:spPr/>
      <dgm:t>
        <a:bodyPr/>
        <a:lstStyle/>
        <a:p>
          <a:endParaRPr lang="en-US"/>
        </a:p>
      </dgm:t>
    </dgm:pt>
    <dgm:pt modelId="{7AF96053-F6F0-4564-A6AA-35A15AE39E89}" type="sibTrans" cxnId="{0B5B6CC3-D7F5-4F07-BBFF-4511C239E97E}">
      <dgm:prSet/>
      <dgm:spPr/>
      <dgm:t>
        <a:bodyPr/>
        <a:lstStyle/>
        <a:p>
          <a:endParaRPr lang="en-US"/>
        </a:p>
      </dgm:t>
    </dgm:pt>
    <dgm:pt modelId="{748037CE-811D-4DCF-8AC9-8D9AA207B5F8}">
      <dgm:prSet phldrT="[Text]"/>
      <dgm:spPr>
        <a:solidFill>
          <a:srgbClr val="BD582C"/>
        </a:solidFill>
        <a:ln>
          <a:solidFill>
            <a:srgbClr val="BD582C"/>
          </a:solidFill>
        </a:ln>
      </dgm:spPr>
      <dgm:t>
        <a:bodyPr/>
        <a:lstStyle/>
        <a:p>
          <a:r>
            <a:rPr lang="en-US" dirty="0"/>
            <a:t>Minimize L1</a:t>
          </a:r>
        </a:p>
      </dgm:t>
    </dgm:pt>
    <dgm:pt modelId="{0E9ED624-9A70-490D-869E-6372817D9F7F}" type="parTrans" cxnId="{7D1909CF-D90A-4483-B9E7-ECCD1A04F786}">
      <dgm:prSet/>
      <dgm:spPr/>
      <dgm:t>
        <a:bodyPr/>
        <a:lstStyle/>
        <a:p>
          <a:endParaRPr lang="en-US"/>
        </a:p>
      </dgm:t>
    </dgm:pt>
    <dgm:pt modelId="{4484AEFF-3288-4E3B-BDF5-CC29FE7B185F}" type="sibTrans" cxnId="{7D1909CF-D90A-4483-B9E7-ECCD1A04F786}">
      <dgm:prSet/>
      <dgm:spPr/>
      <dgm:t>
        <a:bodyPr/>
        <a:lstStyle/>
        <a:p>
          <a:endParaRPr lang="en-US"/>
        </a:p>
      </dgm:t>
    </dgm:pt>
    <dgm:pt modelId="{374BF912-AE7C-46CB-AB44-E42827C0529F}">
      <dgm:prSet phldrT="[Text]"/>
      <dgm:spPr>
        <a:solidFill>
          <a:srgbClr val="BD582C"/>
        </a:solidFill>
        <a:ln>
          <a:solidFill>
            <a:srgbClr val="BD582C"/>
          </a:solidFill>
        </a:ln>
      </dgm:spPr>
      <dgm:t>
        <a:bodyPr/>
        <a:lstStyle/>
        <a:p>
          <a:r>
            <a:rPr lang="en-US" dirty="0"/>
            <a:t>Erlang’s C Approximation</a:t>
          </a:r>
        </a:p>
      </dgm:t>
    </dgm:pt>
    <dgm:pt modelId="{28DCFFC2-2197-4E41-8AB7-590049EA0423}" type="sibTrans" cxnId="{0EF2A670-0CE5-4802-A3FE-30F86E0122E4}">
      <dgm:prSet/>
      <dgm:spPr/>
      <dgm:t>
        <a:bodyPr/>
        <a:lstStyle/>
        <a:p>
          <a:endParaRPr lang="en-US"/>
        </a:p>
      </dgm:t>
    </dgm:pt>
    <dgm:pt modelId="{1E176BE9-73E3-422B-94F4-0F5F119B27A4}" type="parTrans" cxnId="{0EF2A670-0CE5-4802-A3FE-30F86E0122E4}">
      <dgm:prSet/>
      <dgm:spPr/>
      <dgm:t>
        <a:bodyPr/>
        <a:lstStyle/>
        <a:p>
          <a:endParaRPr lang="en-US"/>
        </a:p>
      </dgm:t>
    </dgm:pt>
    <dgm:pt modelId="{9A149E6B-9636-4E2E-BE23-C8B95DB956AA}" type="pres">
      <dgm:prSet presAssocID="{71F0AC46-0068-435E-83AA-5798092D61BF}" presName="linearFlow" presStyleCnt="0">
        <dgm:presLayoutVars>
          <dgm:dir/>
          <dgm:animLvl val="lvl"/>
          <dgm:resizeHandles val="exact"/>
        </dgm:presLayoutVars>
      </dgm:prSet>
      <dgm:spPr/>
    </dgm:pt>
    <dgm:pt modelId="{AA1E59CD-CF35-4E45-A1D6-A817601EC82B}" type="pres">
      <dgm:prSet presAssocID="{374BF912-AE7C-46CB-AB44-E42827C0529F}" presName="composite" presStyleCnt="0"/>
      <dgm:spPr/>
    </dgm:pt>
    <dgm:pt modelId="{085E04A4-0AEE-4613-9D78-DD4A3FD57523}" type="pres">
      <dgm:prSet presAssocID="{374BF912-AE7C-46CB-AB44-E42827C0529F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053804BA-7797-4392-9549-4D5DD5FDE28E}" type="pres">
      <dgm:prSet presAssocID="{374BF912-AE7C-46CB-AB44-E42827C0529F}" presName="descendantText" presStyleLbl="alignAcc1" presStyleIdx="0" presStyleCnt="4">
        <dgm:presLayoutVars>
          <dgm:bulletEnabled val="1"/>
        </dgm:presLayoutVars>
      </dgm:prSet>
      <dgm:spPr/>
    </dgm:pt>
    <dgm:pt modelId="{16934515-E265-4D4C-BD95-492C361A8528}" type="pres">
      <dgm:prSet presAssocID="{28DCFFC2-2197-4E41-8AB7-590049EA0423}" presName="sp" presStyleCnt="0"/>
      <dgm:spPr/>
    </dgm:pt>
    <dgm:pt modelId="{EB891FD9-230D-4F58-9F22-9B658CB7F691}" type="pres">
      <dgm:prSet presAssocID="{9592DD0A-D121-4320-A6C0-B5B222C7F96E}" presName="composite" presStyleCnt="0"/>
      <dgm:spPr/>
    </dgm:pt>
    <dgm:pt modelId="{94EA7074-8BE1-47D7-9A83-1880DF48095E}" type="pres">
      <dgm:prSet presAssocID="{9592DD0A-D121-4320-A6C0-B5B222C7F96E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AB29CF4B-C680-4912-BDD1-061705AEBF86}" type="pres">
      <dgm:prSet presAssocID="{9592DD0A-D121-4320-A6C0-B5B222C7F96E}" presName="descendantText" presStyleLbl="alignAcc1" presStyleIdx="1" presStyleCnt="4">
        <dgm:presLayoutVars>
          <dgm:bulletEnabled val="1"/>
        </dgm:presLayoutVars>
      </dgm:prSet>
      <dgm:spPr/>
    </dgm:pt>
    <dgm:pt modelId="{93ACF5ED-6CD8-4A5F-BCF8-B742DB61783B}" type="pres">
      <dgm:prSet presAssocID="{6B417541-5CDC-40B6-B5DB-9D7BA14FA674}" presName="sp" presStyleCnt="0"/>
      <dgm:spPr/>
    </dgm:pt>
    <dgm:pt modelId="{CC4734D7-478C-49F4-9BD8-38EB2B001C45}" type="pres">
      <dgm:prSet presAssocID="{B13937DB-0245-4D61-820E-3AD7F84BE570}" presName="composite" presStyleCnt="0"/>
      <dgm:spPr/>
    </dgm:pt>
    <dgm:pt modelId="{FDD7560C-9282-4BDE-95A3-1EA1738E7698}" type="pres">
      <dgm:prSet presAssocID="{B13937DB-0245-4D61-820E-3AD7F84BE570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771C5124-FB8A-48E5-8193-25B263D7E921}" type="pres">
      <dgm:prSet presAssocID="{B13937DB-0245-4D61-820E-3AD7F84BE570}" presName="descendantText" presStyleLbl="alignAcc1" presStyleIdx="2" presStyleCnt="4">
        <dgm:presLayoutVars>
          <dgm:bulletEnabled val="1"/>
        </dgm:presLayoutVars>
      </dgm:prSet>
      <dgm:spPr/>
    </dgm:pt>
    <dgm:pt modelId="{A4040F64-4AC0-4D39-A13B-ABC667239648}" type="pres">
      <dgm:prSet presAssocID="{7AF96053-F6F0-4564-A6AA-35A15AE39E89}" presName="sp" presStyleCnt="0"/>
      <dgm:spPr/>
    </dgm:pt>
    <dgm:pt modelId="{C7E6EA2A-42AF-4DED-9142-3FA6B1A99F5B}" type="pres">
      <dgm:prSet presAssocID="{748037CE-811D-4DCF-8AC9-8D9AA207B5F8}" presName="composite" presStyleCnt="0"/>
      <dgm:spPr/>
    </dgm:pt>
    <dgm:pt modelId="{8EE6655A-D271-4EB3-B2DC-0626CD57261D}" type="pres">
      <dgm:prSet presAssocID="{748037CE-811D-4DCF-8AC9-8D9AA207B5F8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FDDF17BA-62C5-4865-9B08-B9B9B468E144}" type="pres">
      <dgm:prSet presAssocID="{748037CE-811D-4DCF-8AC9-8D9AA207B5F8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DC1AA649-6A0B-4C63-BAAF-0AD8D7396153}" type="presOf" srcId="{71F0AC46-0068-435E-83AA-5798092D61BF}" destId="{9A149E6B-9636-4E2E-BE23-C8B95DB956AA}" srcOrd="0" destOrd="0" presId="urn:microsoft.com/office/officeart/2005/8/layout/chevron2"/>
    <dgm:cxn modelId="{B0D7875D-8F1A-4000-8DCC-3A64676AD7FA}" type="presOf" srcId="{9592DD0A-D121-4320-A6C0-B5B222C7F96E}" destId="{94EA7074-8BE1-47D7-9A83-1880DF48095E}" srcOrd="0" destOrd="0" presId="urn:microsoft.com/office/officeart/2005/8/layout/chevron2"/>
    <dgm:cxn modelId="{8DF43D63-9A26-4385-BBD7-6631C87005D5}" srcId="{71F0AC46-0068-435E-83AA-5798092D61BF}" destId="{9592DD0A-D121-4320-A6C0-B5B222C7F96E}" srcOrd="1" destOrd="0" parTransId="{EDBBA798-C3B0-44F8-AEEA-ADBF82396247}" sibTransId="{6B417541-5CDC-40B6-B5DB-9D7BA14FA674}"/>
    <dgm:cxn modelId="{AC7C4966-2005-4725-9A65-9A614164B003}" type="presOf" srcId="{B13937DB-0245-4D61-820E-3AD7F84BE570}" destId="{FDD7560C-9282-4BDE-95A3-1EA1738E7698}" srcOrd="0" destOrd="0" presId="urn:microsoft.com/office/officeart/2005/8/layout/chevron2"/>
    <dgm:cxn modelId="{696A956F-226B-4C2F-A76E-7ED1C1F2D01D}" type="presOf" srcId="{374BF912-AE7C-46CB-AB44-E42827C0529F}" destId="{085E04A4-0AEE-4613-9D78-DD4A3FD57523}" srcOrd="0" destOrd="0" presId="urn:microsoft.com/office/officeart/2005/8/layout/chevron2"/>
    <dgm:cxn modelId="{0EF2A670-0CE5-4802-A3FE-30F86E0122E4}" srcId="{71F0AC46-0068-435E-83AA-5798092D61BF}" destId="{374BF912-AE7C-46CB-AB44-E42827C0529F}" srcOrd="0" destOrd="0" parTransId="{1E176BE9-73E3-422B-94F4-0F5F119B27A4}" sibTransId="{28DCFFC2-2197-4E41-8AB7-590049EA0423}"/>
    <dgm:cxn modelId="{0EE64D8A-EF6D-49D6-BB78-156CA9DC9C96}" type="presOf" srcId="{748037CE-811D-4DCF-8AC9-8D9AA207B5F8}" destId="{8EE6655A-D271-4EB3-B2DC-0626CD57261D}" srcOrd="0" destOrd="0" presId="urn:microsoft.com/office/officeart/2005/8/layout/chevron2"/>
    <dgm:cxn modelId="{0B5B6CC3-D7F5-4F07-BBFF-4511C239E97E}" srcId="{71F0AC46-0068-435E-83AA-5798092D61BF}" destId="{B13937DB-0245-4D61-820E-3AD7F84BE570}" srcOrd="2" destOrd="0" parTransId="{9F69D6AA-9C52-40E6-8AD2-90D63D27E024}" sibTransId="{7AF96053-F6F0-4564-A6AA-35A15AE39E89}"/>
    <dgm:cxn modelId="{7D1909CF-D90A-4483-B9E7-ECCD1A04F786}" srcId="{71F0AC46-0068-435E-83AA-5798092D61BF}" destId="{748037CE-811D-4DCF-8AC9-8D9AA207B5F8}" srcOrd="3" destOrd="0" parTransId="{0E9ED624-9A70-490D-869E-6372817D9F7F}" sibTransId="{4484AEFF-3288-4E3B-BDF5-CC29FE7B185F}"/>
    <dgm:cxn modelId="{3EB57367-0D73-4685-BE83-D34F8BFF0C5F}" type="presParOf" srcId="{9A149E6B-9636-4E2E-BE23-C8B95DB956AA}" destId="{AA1E59CD-CF35-4E45-A1D6-A817601EC82B}" srcOrd="0" destOrd="0" presId="urn:microsoft.com/office/officeart/2005/8/layout/chevron2"/>
    <dgm:cxn modelId="{C1269BFE-73A4-44F4-B7B5-7D39579BB71A}" type="presParOf" srcId="{AA1E59CD-CF35-4E45-A1D6-A817601EC82B}" destId="{085E04A4-0AEE-4613-9D78-DD4A3FD57523}" srcOrd="0" destOrd="0" presId="urn:microsoft.com/office/officeart/2005/8/layout/chevron2"/>
    <dgm:cxn modelId="{C8AF81EE-0FA4-4EC1-B59C-8CB26BB68A71}" type="presParOf" srcId="{AA1E59CD-CF35-4E45-A1D6-A817601EC82B}" destId="{053804BA-7797-4392-9549-4D5DD5FDE28E}" srcOrd="1" destOrd="0" presId="urn:microsoft.com/office/officeart/2005/8/layout/chevron2"/>
    <dgm:cxn modelId="{EC97468A-600B-43C0-9E05-DF4238E8E7AB}" type="presParOf" srcId="{9A149E6B-9636-4E2E-BE23-C8B95DB956AA}" destId="{16934515-E265-4D4C-BD95-492C361A8528}" srcOrd="1" destOrd="0" presId="urn:microsoft.com/office/officeart/2005/8/layout/chevron2"/>
    <dgm:cxn modelId="{9C2FEFBF-0DCD-4865-A493-20AB6FB9E5DC}" type="presParOf" srcId="{9A149E6B-9636-4E2E-BE23-C8B95DB956AA}" destId="{EB891FD9-230D-4F58-9F22-9B658CB7F691}" srcOrd="2" destOrd="0" presId="urn:microsoft.com/office/officeart/2005/8/layout/chevron2"/>
    <dgm:cxn modelId="{8DA0AEA5-5FCC-4AE5-BEDC-B70DC1D54433}" type="presParOf" srcId="{EB891FD9-230D-4F58-9F22-9B658CB7F691}" destId="{94EA7074-8BE1-47D7-9A83-1880DF48095E}" srcOrd="0" destOrd="0" presId="urn:microsoft.com/office/officeart/2005/8/layout/chevron2"/>
    <dgm:cxn modelId="{8970C75F-265F-4915-AFCB-40B845FE672C}" type="presParOf" srcId="{EB891FD9-230D-4F58-9F22-9B658CB7F691}" destId="{AB29CF4B-C680-4912-BDD1-061705AEBF86}" srcOrd="1" destOrd="0" presId="urn:microsoft.com/office/officeart/2005/8/layout/chevron2"/>
    <dgm:cxn modelId="{9363DF55-CF61-477D-B7C6-CE557FC9E5B6}" type="presParOf" srcId="{9A149E6B-9636-4E2E-BE23-C8B95DB956AA}" destId="{93ACF5ED-6CD8-4A5F-BCF8-B742DB61783B}" srcOrd="3" destOrd="0" presId="urn:microsoft.com/office/officeart/2005/8/layout/chevron2"/>
    <dgm:cxn modelId="{4BC75848-2202-4963-BB81-C1FE5085E717}" type="presParOf" srcId="{9A149E6B-9636-4E2E-BE23-C8B95DB956AA}" destId="{CC4734D7-478C-49F4-9BD8-38EB2B001C45}" srcOrd="4" destOrd="0" presId="urn:microsoft.com/office/officeart/2005/8/layout/chevron2"/>
    <dgm:cxn modelId="{8C47DF85-D61A-45BA-841F-B5F33769E784}" type="presParOf" srcId="{CC4734D7-478C-49F4-9BD8-38EB2B001C45}" destId="{FDD7560C-9282-4BDE-95A3-1EA1738E7698}" srcOrd="0" destOrd="0" presId="urn:microsoft.com/office/officeart/2005/8/layout/chevron2"/>
    <dgm:cxn modelId="{C58166FE-6E68-4C1D-B541-8B3C407A26AB}" type="presParOf" srcId="{CC4734D7-478C-49F4-9BD8-38EB2B001C45}" destId="{771C5124-FB8A-48E5-8193-25B263D7E921}" srcOrd="1" destOrd="0" presId="urn:microsoft.com/office/officeart/2005/8/layout/chevron2"/>
    <dgm:cxn modelId="{AE4A99DD-D4C3-4332-94A1-491E66EB9A0D}" type="presParOf" srcId="{9A149E6B-9636-4E2E-BE23-C8B95DB956AA}" destId="{A4040F64-4AC0-4D39-A13B-ABC667239648}" srcOrd="5" destOrd="0" presId="urn:microsoft.com/office/officeart/2005/8/layout/chevron2"/>
    <dgm:cxn modelId="{14BD97B2-5DB3-473C-B8FE-2EF1E07112B0}" type="presParOf" srcId="{9A149E6B-9636-4E2E-BE23-C8B95DB956AA}" destId="{C7E6EA2A-42AF-4DED-9142-3FA6B1A99F5B}" srcOrd="6" destOrd="0" presId="urn:microsoft.com/office/officeart/2005/8/layout/chevron2"/>
    <dgm:cxn modelId="{DAEE8F67-D74E-4559-827F-62F552F3EF93}" type="presParOf" srcId="{C7E6EA2A-42AF-4DED-9142-3FA6B1A99F5B}" destId="{8EE6655A-D271-4EB3-B2DC-0626CD57261D}" srcOrd="0" destOrd="0" presId="urn:microsoft.com/office/officeart/2005/8/layout/chevron2"/>
    <dgm:cxn modelId="{1FF5F5A6-BD40-48BB-BAF5-B4F859C574C5}" type="presParOf" srcId="{C7E6EA2A-42AF-4DED-9142-3FA6B1A99F5B}" destId="{FDDF17BA-62C5-4865-9B08-B9B9B468E14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5E04A4-0AEE-4613-9D78-DD4A3FD57523}">
      <dsp:nvSpPr>
        <dsp:cNvPr id="0" name=""/>
        <dsp:cNvSpPr/>
      </dsp:nvSpPr>
      <dsp:spPr>
        <a:xfrm rot="5400000">
          <a:off x="-179952" y="180016"/>
          <a:ext cx="1199681" cy="839777"/>
        </a:xfrm>
        <a:prstGeom prst="chevron">
          <a:avLst/>
        </a:prstGeom>
        <a:solidFill>
          <a:srgbClr val="BD582C"/>
        </a:solidFill>
        <a:ln w="15875" cap="flat" cmpd="sng" algn="ctr">
          <a:solidFill>
            <a:srgbClr val="BD582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Erlang’s C Approximation</a:t>
          </a:r>
        </a:p>
      </dsp:txBody>
      <dsp:txXfrm rot="-5400000">
        <a:off x="1" y="419953"/>
        <a:ext cx="839777" cy="359904"/>
      </dsp:txXfrm>
    </dsp:sp>
    <dsp:sp modelId="{053804BA-7797-4392-9549-4D5DD5FDE28E}">
      <dsp:nvSpPr>
        <dsp:cNvPr id="0" name=""/>
        <dsp:cNvSpPr/>
      </dsp:nvSpPr>
      <dsp:spPr>
        <a:xfrm rot="5400000">
          <a:off x="2569414" y="-1729573"/>
          <a:ext cx="779793" cy="423906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EA7074-8BE1-47D7-9A83-1880DF48095E}">
      <dsp:nvSpPr>
        <dsp:cNvPr id="0" name=""/>
        <dsp:cNvSpPr/>
      </dsp:nvSpPr>
      <dsp:spPr>
        <a:xfrm rot="5400000">
          <a:off x="-179952" y="1232176"/>
          <a:ext cx="1199681" cy="839777"/>
        </a:xfrm>
        <a:prstGeom prst="chevron">
          <a:avLst/>
        </a:prstGeom>
        <a:solidFill>
          <a:srgbClr val="BD582C"/>
        </a:solidFill>
        <a:ln w="15875" cap="flat" cmpd="sng" algn="ctr">
          <a:solidFill>
            <a:srgbClr val="BD582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Average </a:t>
          </a:r>
          <a:r>
            <a:rPr lang="en-US" sz="1000" kern="1200" dirty="0" err="1"/>
            <a:t>Custcomers</a:t>
          </a:r>
          <a:endParaRPr lang="en-US" sz="1000" kern="1200" dirty="0"/>
        </a:p>
      </dsp:txBody>
      <dsp:txXfrm rot="-5400000">
        <a:off x="1" y="1472113"/>
        <a:ext cx="839777" cy="359904"/>
      </dsp:txXfrm>
    </dsp:sp>
    <dsp:sp modelId="{AB29CF4B-C680-4912-BDD1-061705AEBF86}">
      <dsp:nvSpPr>
        <dsp:cNvPr id="0" name=""/>
        <dsp:cNvSpPr/>
      </dsp:nvSpPr>
      <dsp:spPr>
        <a:xfrm rot="5400000">
          <a:off x="2569414" y="-677412"/>
          <a:ext cx="779793" cy="423906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D7560C-9282-4BDE-95A3-1EA1738E7698}">
      <dsp:nvSpPr>
        <dsp:cNvPr id="0" name=""/>
        <dsp:cNvSpPr/>
      </dsp:nvSpPr>
      <dsp:spPr>
        <a:xfrm rot="5400000">
          <a:off x="-179952" y="2284337"/>
          <a:ext cx="1199681" cy="839777"/>
        </a:xfrm>
        <a:prstGeom prst="chevron">
          <a:avLst/>
        </a:prstGeom>
        <a:solidFill>
          <a:srgbClr val="BD582C"/>
        </a:solidFill>
        <a:ln w="15875" cap="flat" cmpd="sng" algn="ctr">
          <a:solidFill>
            <a:srgbClr val="BD582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Little’s Law</a:t>
          </a:r>
        </a:p>
      </dsp:txBody>
      <dsp:txXfrm rot="-5400000">
        <a:off x="1" y="2524274"/>
        <a:ext cx="839777" cy="359904"/>
      </dsp:txXfrm>
    </dsp:sp>
    <dsp:sp modelId="{771C5124-FB8A-48E5-8193-25B263D7E921}">
      <dsp:nvSpPr>
        <dsp:cNvPr id="0" name=""/>
        <dsp:cNvSpPr/>
      </dsp:nvSpPr>
      <dsp:spPr>
        <a:xfrm rot="5400000">
          <a:off x="2569414" y="374748"/>
          <a:ext cx="779793" cy="423906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E6655A-D271-4EB3-B2DC-0626CD57261D}">
      <dsp:nvSpPr>
        <dsp:cNvPr id="0" name=""/>
        <dsp:cNvSpPr/>
      </dsp:nvSpPr>
      <dsp:spPr>
        <a:xfrm rot="5400000">
          <a:off x="-179952" y="3336498"/>
          <a:ext cx="1199681" cy="839777"/>
        </a:xfrm>
        <a:prstGeom prst="chevron">
          <a:avLst/>
        </a:prstGeom>
        <a:solidFill>
          <a:srgbClr val="BD582C"/>
        </a:solidFill>
        <a:ln w="15875" cap="flat" cmpd="sng" algn="ctr">
          <a:solidFill>
            <a:srgbClr val="BD582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Minimize L1</a:t>
          </a:r>
        </a:p>
      </dsp:txBody>
      <dsp:txXfrm rot="-5400000">
        <a:off x="1" y="3576435"/>
        <a:ext cx="839777" cy="359904"/>
      </dsp:txXfrm>
    </dsp:sp>
    <dsp:sp modelId="{FDDF17BA-62C5-4865-9B08-B9B9B468E144}">
      <dsp:nvSpPr>
        <dsp:cNvPr id="0" name=""/>
        <dsp:cNvSpPr/>
      </dsp:nvSpPr>
      <dsp:spPr>
        <a:xfrm rot="5400000">
          <a:off x="2569414" y="1426908"/>
          <a:ext cx="779793" cy="423906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7A1E1-1B6D-4C20-AD2F-CB2EA266D983}" type="datetimeFigureOut">
              <a:rPr lang="en-US" smtClean="0"/>
              <a:t>7/28/25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A819A-9DED-4352-B44D-AB58994C4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598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Tadhg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A819A-9DED-4352-B44D-AB58994C4BA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879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Kaylee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A819A-9DED-4352-B44D-AB58994C4B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9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Kaylee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A819A-9DED-4352-B44D-AB58994C4BA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617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06551-66A5-E8D3-E727-18789A41A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EF2E5-6316-09AC-A95E-BB5370DDF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6AC22-5370-464D-9EBF-61FFF9241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Kaylee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A8703-033F-7273-A15A-5DF26C27B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A819A-9DED-4352-B44D-AB58994C4BA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15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Kaylee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A819A-9DED-4352-B44D-AB58994C4BA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495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5758E-754B-62E6-BF61-9A30C0D0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63431-F90D-9D56-8CC4-6ABC01619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B093B-6A5E-0D7D-4C73-F7433B761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Kaylee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4EE8E-EBAC-3CA8-649F-24019CE34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A819A-9DED-4352-B44D-AB58994C4BA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537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Kaylee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A819A-9DED-4352-B44D-AB58994C4BA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51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54385-605D-BD3E-8631-2A953AD57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0D70FE-BD42-6663-D87A-B7FD6A075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7F6D0-C0F8-0938-0E95-CE12C808F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Tadhg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0FE27-30A3-EC15-444D-2B698AE9B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A819A-9DED-4352-B44D-AB58994C4BA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92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Tadhg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A819A-9DED-4352-B44D-AB58994C4BA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094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512DE-F6F0-0DBA-B797-EBB93B9D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573748-EC82-B86F-60FE-2ED0E9665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3C61D-FEC8-24B1-9426-95AA12684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Tadhg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B8561-377D-D877-F2F2-7D70F3DA8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A819A-9DED-4352-B44D-AB58994C4BA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2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581C5-400F-FF38-F1DC-BF845B139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621933-7845-2DD2-4B4A-D3C717260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D9EFF-8E6E-31E7-1BDF-62FEAE2A4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Tadhg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FA185-22EC-1F71-2379-E290394B9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A819A-9DED-4352-B44D-AB58994C4BA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0311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Kaylee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A819A-9DED-4352-B44D-AB58994C4BA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35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3D276-EBCF-45FD-A65E-C5B84C7DA712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3CB4-4689-4865-A1B0-BA938AC2EB6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071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3D276-EBCF-45FD-A65E-C5B84C7DA712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3CB4-4689-4865-A1B0-BA938AC2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49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3D276-EBCF-45FD-A65E-C5B84C7DA712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3CB4-4689-4865-A1B0-BA938AC2EB6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478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3D276-EBCF-45FD-A65E-C5B84C7DA712}" type="datetimeFigureOut">
              <a:rPr lang="en-US" smtClean="0"/>
              <a:t>7/28/25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3CB4-4689-4865-A1B0-BA938AC2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41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3D276-EBCF-45FD-A65E-C5B84C7DA712}" type="datetimeFigureOut">
              <a:rPr lang="en-US" smtClean="0"/>
              <a:t>7/28/25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3CB4-4689-4865-A1B0-BA938AC2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536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3D276-EBCF-45FD-A65E-C5B84C7DA712}" type="datetimeFigureOut">
              <a:rPr lang="en-US" smtClean="0"/>
              <a:t>7/28/25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3CB4-4689-4865-A1B0-BA938AC2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51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3D276-EBCF-45FD-A65E-C5B84C7DA712}" type="datetimeFigureOut">
              <a:rPr lang="en-US" smtClean="0"/>
              <a:t>7/28/25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3CB4-4689-4865-A1B0-BA938AC2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75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43D276-EBCF-45FD-A65E-C5B84C7DA712}" type="datetimeFigureOut">
              <a:rPr lang="en-US" smtClean="0"/>
              <a:t>7/28/25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2C43CB4-4689-4865-A1B0-BA938AC2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89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3D276-EBCF-45FD-A65E-C5B84C7DA712}" type="datetimeFigureOut">
              <a:rPr lang="en-US" smtClean="0"/>
              <a:t>7/28/25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3CB4-4689-4865-A1B0-BA938AC2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01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3D276-EBCF-45FD-A65E-C5B84C7DA712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3CB4-4689-4865-A1B0-BA938AC2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82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3D276-EBCF-45FD-A65E-C5B84C7DA712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3CB4-4689-4865-A1B0-BA938AC2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904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43D276-EBCF-45FD-A65E-C5B84C7DA712}" type="datetimeFigureOut">
              <a:rPr lang="en-US" smtClean="0"/>
              <a:t>7/28/25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2C43CB4-4689-4865-A1B0-BA938AC2EB6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169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microsoft.com/office/2007/relationships/hdphoto" Target="../media/hdphoto1.wdp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6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5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sa.gov/news/press/releases/2022/11/08/tsa-boosts-recruitment-incentive-attract-applicants-security" TargetMode="External"/><Relationship Id="rId3" Type="http://schemas.openxmlformats.org/officeDocument/2006/relationships/hyperlink" Target="https://www.sofi.com/learn/content/average-salary-in-us/" TargetMode="External"/><Relationship Id="rId7" Type="http://schemas.openxmlformats.org/officeDocument/2006/relationships/hyperlink" Target="http://www.indeed.com/cmp/TSA-(transportation-Security-Administration)/salaries/Transportation-Officer/Los-Angeles-CA?period=hourly" TargetMode="External"/><Relationship Id="rId2" Type="http://schemas.openxmlformats.org/officeDocument/2006/relationships/hyperlink" Target="https://www.trb.org/publications/circulars/ec060/06/_Bradley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ashingtonpost.com/travel/2024/11/28/tsa-precheck-vs-standard-security-line/" TargetMode="External"/><Relationship Id="rId11" Type="http://schemas.openxmlformats.org/officeDocument/2006/relationships/hyperlink" Target="https://en.wikipedia.org/wiki/Little/%27s/_law" TargetMode="External"/><Relationship Id="rId5" Type="http://schemas.openxmlformats.org/officeDocument/2006/relationships/hyperlink" Target="https://doi.org/10.5539/emr.v6n1p56" TargetMode="External"/><Relationship Id="rId10" Type="http://schemas.openxmlformats.org/officeDocument/2006/relationships/hyperlink" Target="https://en.wikipedia.org/wiki/M/M/c/_queue" TargetMode="External"/><Relationship Id="rId4" Type="http://schemas.openxmlformats.org/officeDocument/2006/relationships/hyperlink" Target="https://awt.cbp.gov/" TargetMode="External"/><Relationship Id="rId9" Type="http://schemas.openxmlformats.org/officeDocument/2006/relationships/hyperlink" Target="https://www.gao.gov/assets/gao-18-236.pdf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463B87-6E58-607C-E568-7D571AEA6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n aerial view of airplanes at an airport&#10;&#10;AI-generated content may be incorrect.">
            <a:extLst>
              <a:ext uri="{FF2B5EF4-FFF2-40B4-BE49-F238E27FC236}">
                <a16:creationId xmlns:a16="http://schemas.microsoft.com/office/drawing/2014/main" id="{3772C14D-1A40-1416-602E-72205389B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9" b="14671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65626A-0D90-99AC-8309-946561387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  <a:solidFill>
            <a:srgbClr val="A6A6A6">
              <a:alpha val="38824"/>
            </a:srgbClr>
          </a:solidFill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Analysis of Airport Security with Queueing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6A7B82-9C3C-2737-A1EE-09A3C42641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96043"/>
            <a:ext cx="9144000" cy="1098395"/>
          </a:xfrm>
          <a:solidFill>
            <a:srgbClr val="A6A6A6">
              <a:alpha val="38824"/>
            </a:srgbClr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Kaylee Vo, Tadhg Scannell</a:t>
            </a:r>
          </a:p>
          <a:p>
            <a:r>
              <a:rPr lang="en-US" dirty="0">
                <a:solidFill>
                  <a:srgbClr val="FFFFFF"/>
                </a:solidFill>
              </a:rPr>
              <a:t>July 29</a:t>
            </a:r>
            <a:r>
              <a:rPr lang="en-US" baseline="30000" dirty="0">
                <a:solidFill>
                  <a:srgbClr val="FFFFFF"/>
                </a:solidFill>
              </a:rPr>
              <a:t>th</a:t>
            </a:r>
            <a:r>
              <a:rPr lang="en-US" dirty="0">
                <a:solidFill>
                  <a:srgbClr val="FFFFFF"/>
                </a:solidFill>
              </a:rPr>
              <a:t>, 2025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7092F1-464F-E6A5-6FD7-8C332F7B45DD}"/>
              </a:ext>
            </a:extLst>
          </p:cNvPr>
          <p:cNvSpPr/>
          <p:nvPr/>
        </p:nvSpPr>
        <p:spPr>
          <a:xfrm>
            <a:off x="8964809" y="6457940"/>
            <a:ext cx="3145641" cy="400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Photos from https://skiesmag.com/news/yvr-retakes-top-airport-in-north-america-ranking/ </a:t>
            </a:r>
          </a:p>
        </p:txBody>
      </p:sp>
    </p:spTree>
    <p:extLst>
      <p:ext uri="{BB962C8B-B14F-4D97-AF65-F5344CB8AC3E}">
        <p14:creationId xmlns:p14="http://schemas.microsoft.com/office/powerpoint/2010/main" val="356974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7931-732D-8B9C-DCB9-DFBE83354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50E80-013E-C29A-25D1-8F01D5273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and Motivation</a:t>
            </a:r>
          </a:p>
          <a:p>
            <a:r>
              <a:rPr lang="en-US" dirty="0"/>
              <a:t>Collecting Data</a:t>
            </a:r>
          </a:p>
          <a:p>
            <a:r>
              <a:rPr lang="en-US" dirty="0"/>
              <a:t>Models</a:t>
            </a:r>
          </a:p>
          <a:p>
            <a:pPr lvl="1"/>
            <a:r>
              <a:rPr lang="en-US" dirty="0"/>
              <a:t>M/M/c priority queue</a:t>
            </a:r>
          </a:p>
          <a:p>
            <a:pPr lvl="1"/>
            <a:r>
              <a:rPr lang="en-US" dirty="0"/>
              <a:t>Finding Parameters</a:t>
            </a:r>
          </a:p>
          <a:p>
            <a:pPr lvl="1"/>
            <a:r>
              <a:rPr lang="en-US" dirty="0"/>
              <a:t>M/N/c</a:t>
            </a:r>
          </a:p>
          <a:p>
            <a:pPr lvl="1"/>
            <a:r>
              <a:rPr lang="en-US" dirty="0"/>
              <a:t>Results</a:t>
            </a:r>
          </a:p>
          <a:p>
            <a:r>
              <a:rPr lang="en-US" dirty="0"/>
              <a:t>Sensitivity Analysis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Sources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78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0AFAF-C8CD-5D67-BA0D-12C16D24C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65270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US" sz="3400" dirty="0"/>
              <a:t>Problem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CDE9E-5B17-4D34-3D95-9FB192D47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015544"/>
            <a:ext cx="4498848" cy="4257240"/>
          </a:xfrm>
        </p:spPr>
        <p:txBody>
          <a:bodyPr anchor="t">
            <a:normAutofit/>
          </a:bodyPr>
          <a:lstStyle/>
          <a:p>
            <a:r>
              <a:rPr lang="en-US" sz="1600" dirty="0"/>
              <a:t>Airport Security is a tedious but necessary process to ensure public safety while traveling commercially.</a:t>
            </a:r>
          </a:p>
          <a:p>
            <a:r>
              <a:rPr lang="en-US" sz="1600" dirty="0"/>
              <a:t>TSA Precheck offers a win-win to the TSA and the passengers.</a:t>
            </a:r>
          </a:p>
          <a:p>
            <a:r>
              <a:rPr lang="en-US" sz="1600" dirty="0"/>
              <a:t>Previous studies have evaluated Airport Security as parallel M/M/c queue.</a:t>
            </a:r>
          </a:p>
          <a:p>
            <a:r>
              <a:rPr lang="en-US" sz="1600" dirty="0"/>
              <a:t>How do we model security with a priority queue?</a:t>
            </a:r>
          </a:p>
          <a:p>
            <a:r>
              <a:rPr lang="en-US" sz="1600" dirty="0"/>
              <a:t>What is the cost associated with Airport Security?</a:t>
            </a:r>
          </a:p>
          <a:p>
            <a:r>
              <a:rPr lang="en-US" sz="1600" dirty="0"/>
              <a:t>The TSA administrator has stated a goal of 70% enrollment.  What does this mean?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13313BB5-0660-020E-6213-51FDEF86DB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95" b="2"/>
          <a:stretch>
            <a:fillRect/>
          </a:stretch>
        </p:blipFill>
        <p:spPr bwMode="auto"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noFill/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561E09-CE6D-4033-29F8-99A4F1641E54}"/>
              </a:ext>
            </a:extLst>
          </p:cNvPr>
          <p:cNvSpPr/>
          <p:nvPr/>
        </p:nvSpPr>
        <p:spPr>
          <a:xfrm>
            <a:off x="8964809" y="6457940"/>
            <a:ext cx="3145641" cy="400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Photos from https://pointsecurityinc.com/types-airport-security-equipment/</a:t>
            </a:r>
          </a:p>
        </p:txBody>
      </p:sp>
    </p:spTree>
    <p:extLst>
      <p:ext uri="{BB962C8B-B14F-4D97-AF65-F5344CB8AC3E}">
        <p14:creationId xmlns:p14="http://schemas.microsoft.com/office/powerpoint/2010/main" val="2336439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29BABB-3EB9-C3F4-6642-7889BEB8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903D5-63DC-C5F4-89EE-0ADEDB406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 dirty="0"/>
              <a:t>Modeling Airport Security as a Markov Chain (Li et al) [4]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2C5EA-04B5-493B-DBEF-B4BA9AC26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3469" y="3752849"/>
            <a:ext cx="7777518" cy="2452687"/>
          </a:xfrm>
        </p:spPr>
        <p:txBody>
          <a:bodyPr anchor="ctr">
            <a:normAutofit/>
          </a:bodyPr>
          <a:lstStyle/>
          <a:p>
            <a:r>
              <a:rPr lang="en-US" sz="1500" dirty="0"/>
              <a:t>Regular M/M/c has a known closed-form solution, which makes it useful for modeling.</a:t>
            </a:r>
          </a:p>
          <a:p>
            <a:pPr lvl="1"/>
            <a:r>
              <a:rPr lang="en-US" sz="1500" dirty="0"/>
              <a:t>The models we use will not have closed-form solutions, so we will use Monte Carlo simulations to identify long-term solutions.</a:t>
            </a:r>
          </a:p>
          <a:p>
            <a:pPr lvl="1"/>
            <a:r>
              <a:rPr lang="en-US" sz="1500" dirty="0"/>
              <a:t>Accommodates different passenger types with parallel queues (e.g., separate lines).</a:t>
            </a:r>
          </a:p>
          <a:p>
            <a:r>
              <a:rPr lang="en-US" sz="1500" dirty="0"/>
              <a:t>Approach 1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500" dirty="0"/>
              <a:t>Use an M/M/c model with a priority queue.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500" dirty="0"/>
              <a:t>Both interarrival times and service times are exponentially distributed, with </a:t>
            </a:r>
            <a:r>
              <a:rPr lang="en-US" sz="1500" dirty="0" err="1"/>
              <a:t>PreCheck</a:t>
            </a:r>
            <a:r>
              <a:rPr lang="en-US" sz="1500" dirty="0"/>
              <a:t> taking priority.</a:t>
            </a:r>
          </a:p>
          <a:p>
            <a:pPr marL="201168" lvl="1" indent="0">
              <a:buNone/>
            </a:pPr>
            <a:endParaRPr lang="en-US" sz="15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BD00BE1-AC56-F1D4-9D75-86111091E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12" b="32293"/>
          <a:stretch>
            <a:fillRect/>
          </a:stretch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344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F4F39-FF6F-22D0-9391-3EDAFF56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Airport Security Scanner. Conveyor">
            <a:extLst>
              <a:ext uri="{FF2B5EF4-FFF2-40B4-BE49-F238E27FC236}">
                <a16:creationId xmlns:a16="http://schemas.microsoft.com/office/drawing/2014/main" id="{1ECEBC74-95DF-45CB-AE5A-8FFE2B839D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0" t="34188" r="2480" b="18163"/>
          <a:stretch>
            <a:fillRect/>
          </a:stretch>
        </p:blipFill>
        <p:spPr bwMode="auto">
          <a:xfrm>
            <a:off x="6662378" y="5203795"/>
            <a:ext cx="3348349" cy="112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A metal detector with a light on top&#10;&#10;AI-generated content may be incorrect.">
            <a:extLst>
              <a:ext uri="{FF2B5EF4-FFF2-40B4-BE49-F238E27FC236}">
                <a16:creationId xmlns:a16="http://schemas.microsoft.com/office/drawing/2014/main" id="{4222A19C-86BD-FB42-1BD0-F39941D0E7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786" b="88630" l="35862" r="64138">
                        <a14:foregroundMark x1="37931" y1="26873" x2="38276" y2="53230"/>
                        <a14:foregroundMark x1="63448" y1="84238" x2="63448" y2="84238"/>
                        <a14:foregroundMark x1="39310" y1="88630" x2="39310" y2="88630"/>
                        <a14:backgroundMark x1="53103" y1="43152" x2="45345" y2="43669"/>
                        <a14:backgroundMark x1="50862" y1="43152" x2="41897" y2="71835"/>
                        <a14:backgroundMark x1="41897" y1="71835" x2="57069" y2="70026"/>
                        <a14:backgroundMark x1="45862" y1="54522" x2="45862" y2="54522"/>
                        <a14:backgroundMark x1="46034" y1="54522" x2="50517" y2="793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552" r="31984" b="10519"/>
          <a:stretch>
            <a:fillRect/>
          </a:stretch>
        </p:blipFill>
        <p:spPr>
          <a:xfrm>
            <a:off x="8432541" y="4963431"/>
            <a:ext cx="814868" cy="13718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5E1394-63B5-1745-B2A0-D878D89D7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Parameters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7613B-459B-6A59-EC97-EE9CE4C1D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/>
          <a:lstStyle/>
          <a:p>
            <a:r>
              <a:rPr lang="en-US" dirty="0"/>
              <a:t>Interarrival Times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C70B3-C6C6-5B6B-25E3-EDAA65741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253" y="3539246"/>
            <a:ext cx="5157787" cy="2449512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Exponential distribution</a:t>
            </a:r>
          </a:p>
          <a:p>
            <a:pPr lvl="1"/>
            <a:r>
              <a:rPr lang="en-US" dirty="0"/>
              <a:t>Arrival Rate: </a:t>
            </a:r>
            <a:r>
              <a:rPr lang="el-GR" dirty="0"/>
              <a:t>λ</a:t>
            </a:r>
            <a:endParaRPr lang="en-US" dirty="0"/>
          </a:p>
          <a:p>
            <a:pPr lvl="1"/>
            <a:r>
              <a:rPr lang="en-US" dirty="0"/>
              <a:t>LAX data from Tom Bradley International terminal from 1-1-2025 to 7-21-2025 [1].</a:t>
            </a:r>
          </a:p>
          <a:p>
            <a:pPr lvl="1"/>
            <a:r>
              <a:rPr lang="en-US" dirty="0"/>
              <a:t>Took passengers per hour and converted to passengers per minute.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75EC65-4BE0-2E18-FC99-0AE02F41E0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/>
          <a:lstStyle/>
          <a:p>
            <a:r>
              <a:rPr lang="en-US" dirty="0"/>
              <a:t>Service Times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30657F-A48F-C89D-C4F9-94832554A1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7" y="3539246"/>
            <a:ext cx="5183188" cy="2449512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Exponential distribution</a:t>
            </a:r>
          </a:p>
          <a:p>
            <a:pPr lvl="1"/>
            <a:r>
              <a:rPr lang="en-US" dirty="0"/>
              <a:t>Service Rate: </a:t>
            </a:r>
            <a:r>
              <a:rPr lang="en-US" dirty="0" err="1"/>
              <a:t>μ</a:t>
            </a:r>
            <a:endParaRPr lang="en-US" dirty="0"/>
          </a:p>
          <a:p>
            <a:pPr lvl="1"/>
            <a:r>
              <a:rPr lang="en-US" dirty="0"/>
              <a:t>Optimizer with Erlang’s C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E09410-2657-F0D7-077A-DFAC22C94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5252" y="2486025"/>
            <a:ext cx="3288130" cy="10341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E8A224-9D25-3716-C7BE-4639A76D30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03" y="2505075"/>
            <a:ext cx="3453390" cy="1034171"/>
          </a:xfrm>
          <a:prstGeom prst="rect">
            <a:avLst/>
          </a:prstGeom>
        </p:spPr>
      </p:pic>
      <p:pic>
        <p:nvPicPr>
          <p:cNvPr id="8" name="Graphic 7" descr="Walk with solid fill">
            <a:extLst>
              <a:ext uri="{FF2B5EF4-FFF2-40B4-BE49-F238E27FC236}">
                <a16:creationId xmlns:a16="http://schemas.microsoft.com/office/drawing/2014/main" id="{755B5152-571F-FB57-9FB7-BBD9A1F5A2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0080" y="5476166"/>
            <a:ext cx="914400" cy="914400"/>
          </a:xfrm>
          <a:prstGeom prst="rect">
            <a:avLst/>
          </a:prstGeom>
        </p:spPr>
      </p:pic>
      <p:pic>
        <p:nvPicPr>
          <p:cNvPr id="11" name="Graphic 10" descr="Group with solid fill">
            <a:extLst>
              <a:ext uri="{FF2B5EF4-FFF2-40B4-BE49-F238E27FC236}">
                <a16:creationId xmlns:a16="http://schemas.microsoft.com/office/drawing/2014/main" id="{C644432C-1A5B-8926-B5AB-6B63F8BBF2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51672" y="5247439"/>
            <a:ext cx="1371854" cy="1371854"/>
          </a:xfrm>
          <a:prstGeom prst="rect">
            <a:avLst/>
          </a:prstGeom>
        </p:spPr>
      </p:pic>
      <p:pic>
        <p:nvPicPr>
          <p:cNvPr id="13" name="Graphic 12" descr="Walk with solid fill">
            <a:extLst>
              <a:ext uri="{FF2B5EF4-FFF2-40B4-BE49-F238E27FC236}">
                <a16:creationId xmlns:a16="http://schemas.microsoft.com/office/drawing/2014/main" id="{15EDC7CB-8571-29CE-A0D3-24713AF241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17098" y="5476166"/>
            <a:ext cx="914400" cy="914400"/>
          </a:xfrm>
          <a:prstGeom prst="rect">
            <a:avLst/>
          </a:prstGeom>
        </p:spPr>
      </p:pic>
      <p:pic>
        <p:nvPicPr>
          <p:cNvPr id="14" name="Graphic 13" descr="Walk with solid fill">
            <a:extLst>
              <a:ext uri="{FF2B5EF4-FFF2-40B4-BE49-F238E27FC236}">
                <a16:creationId xmlns:a16="http://schemas.microsoft.com/office/drawing/2014/main" id="{74F40F40-5BFC-815C-0142-023D1CCC54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05782" y="5506166"/>
            <a:ext cx="852553" cy="852553"/>
          </a:xfrm>
          <a:prstGeom prst="rect">
            <a:avLst/>
          </a:prstGeom>
        </p:spPr>
      </p:pic>
      <p:pic>
        <p:nvPicPr>
          <p:cNvPr id="18" name="Graphic 17" descr="Walk with solid fill">
            <a:extLst>
              <a:ext uri="{FF2B5EF4-FFF2-40B4-BE49-F238E27FC236}">
                <a16:creationId xmlns:a16="http://schemas.microsoft.com/office/drawing/2014/main" id="{B02089BD-BE10-F801-8D05-185CA50F3F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31206" y="5476166"/>
            <a:ext cx="914400" cy="914400"/>
          </a:xfrm>
          <a:prstGeom prst="rect">
            <a:avLst/>
          </a:prstGeom>
        </p:spPr>
      </p:pic>
      <p:pic>
        <p:nvPicPr>
          <p:cNvPr id="19" name="Graphic 18" descr="Walk with solid fill">
            <a:extLst>
              <a:ext uri="{FF2B5EF4-FFF2-40B4-BE49-F238E27FC236}">
                <a16:creationId xmlns:a16="http://schemas.microsoft.com/office/drawing/2014/main" id="{ABC41F42-AE5F-3682-C388-6C2C9A953E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84933" y="5522982"/>
            <a:ext cx="852553" cy="85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903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42BB5-BB37-9D98-6D43-DE556DAFA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A0D37-8FA0-EE56-B41A-D1558A16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Approximating μ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5263AC-168E-E709-B45A-ACC8B2C72BBD}"/>
              </a:ext>
            </a:extLst>
          </p:cNvPr>
          <p:cNvSpPr txBox="1">
            <a:spLocks/>
          </p:cNvSpPr>
          <p:nvPr/>
        </p:nvSpPr>
        <p:spPr>
          <a:xfrm>
            <a:off x="369034" y="1984642"/>
            <a:ext cx="5501025" cy="43562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Available data: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Passenger wait times in Passport Control [3]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Assumptions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Recorded data is representative of a M/M/C queue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Passport Control and Security Lines are equivalent service rates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Coefficients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Server Count: c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Server utilization: </a:t>
            </a:r>
            <a:r>
              <a:rPr lang="el-GR" sz="12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ρ</a:t>
            </a:r>
            <a:endParaRPr lang="en-US" sz="12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Arrival Rate: </a:t>
            </a:r>
            <a:r>
              <a:rPr lang="el-GR" sz="12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λ</a:t>
            </a:r>
            <a:endParaRPr lang="en-US" sz="12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Service Rate: μ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Concepts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Erlang C: the probability that an arriving customer is forced to join the queue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Little’s Law: the average number in the system is equal to the product of the arrival rate and the average system time. [11]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μ</a:t>
            </a:r>
            <a:r>
              <a:rPr lang="en-US" sz="1200" b="0" baseline="-25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reg</a:t>
            </a:r>
            <a:r>
              <a:rPr lang="en-US" sz="12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1.91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μ</a:t>
            </a:r>
            <a:r>
              <a:rPr lang="en-US" sz="1200" b="0" baseline="-25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reg</a:t>
            </a:r>
            <a:r>
              <a:rPr lang="en-US" sz="12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sz="1200" b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μ</a:t>
            </a:r>
            <a:r>
              <a:rPr lang="en-US" sz="1200" b="0" baseline="-25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reg</a:t>
            </a:r>
            <a:r>
              <a:rPr lang="en-US" sz="12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*1.33 [9] = 2.262 </a:t>
            </a:r>
          </a:p>
          <a:p>
            <a:pPr lvl="1"/>
            <a:endParaRPr lang="en-US" sz="12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18D546-5B30-B54B-142E-0456BBF72841}"/>
              </a:ext>
            </a:extLst>
          </p:cNvPr>
          <p:cNvGrpSpPr/>
          <p:nvPr/>
        </p:nvGrpSpPr>
        <p:grpSpPr>
          <a:xfrm>
            <a:off x="6239565" y="1879820"/>
            <a:ext cx="5078845" cy="4356292"/>
            <a:chOff x="6224154" y="1797627"/>
            <a:chExt cx="5078845" cy="4356292"/>
          </a:xfrm>
          <a:solidFill>
            <a:schemeClr val="accent2"/>
          </a:solidFill>
        </p:grpSpPr>
        <p:graphicFrame>
          <p:nvGraphicFramePr>
            <p:cNvPr id="3" name="Diagram 2">
              <a:extLst>
                <a:ext uri="{FF2B5EF4-FFF2-40B4-BE49-F238E27FC236}">
                  <a16:creationId xmlns:a16="http://schemas.microsoft.com/office/drawing/2014/main" id="{AE2DAAE7-2708-4007-2D1F-ED6FBA4D90E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32240395"/>
                </p:ext>
              </p:extLst>
            </p:nvPr>
          </p:nvGraphicFramePr>
          <p:xfrm>
            <a:off x="6224154" y="1797627"/>
            <a:ext cx="5078845" cy="435629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A465350-889F-935D-6DE8-4ED44761A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r="51293"/>
            <a:stretch>
              <a:fillRect/>
            </a:stretch>
          </p:blipFill>
          <p:spPr>
            <a:xfrm>
              <a:off x="7450392" y="2988770"/>
              <a:ext cx="1522839" cy="527858"/>
            </a:xfrm>
            <a:prstGeom prst="rect">
              <a:avLst/>
            </a:prstGeom>
            <a:grpFill/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27D036D-1F43-B7BA-EA2E-80E667941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48031" r="1"/>
            <a:stretch>
              <a:fillRect/>
            </a:stretch>
          </p:blipFill>
          <p:spPr>
            <a:xfrm>
              <a:off x="8973231" y="2940914"/>
              <a:ext cx="1901487" cy="617734"/>
            </a:xfrm>
            <a:prstGeom prst="rect">
              <a:avLst/>
            </a:prstGeom>
            <a:grpFill/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BCC5327-9FFF-0190-F163-45C2E381B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008704" y="1836782"/>
              <a:ext cx="2002795" cy="715999"/>
            </a:xfrm>
            <a:prstGeom prst="rect">
              <a:avLst/>
            </a:prstGeom>
            <a:grpFill/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572E8BD-EC9B-3C75-B34D-FDC0601C1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18573" r="16825"/>
            <a:stretch>
              <a:fillRect/>
            </a:stretch>
          </p:blipFill>
          <p:spPr>
            <a:xfrm>
              <a:off x="7600416" y="4062297"/>
              <a:ext cx="1107643" cy="463024"/>
            </a:xfrm>
            <a:prstGeom prst="rect">
              <a:avLst/>
            </a:prstGeom>
            <a:grpFill/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0F393BD-06DD-2FA2-1763-1B80323D8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11950"/>
            <a:stretch>
              <a:fillRect/>
            </a:stretch>
          </p:blipFill>
          <p:spPr>
            <a:xfrm>
              <a:off x="8973231" y="3994637"/>
              <a:ext cx="2064596" cy="626480"/>
            </a:xfrm>
            <a:prstGeom prst="rect">
              <a:avLst/>
            </a:prstGeom>
            <a:grpFill/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8802F78-C0E5-3E77-CFF5-5B76EA7A7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211811" y="5049748"/>
              <a:ext cx="2046568" cy="598730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1591864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A19DC-B068-526C-861E-E2636235E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909B3-DDFE-9D40-CF6B-69786AF92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Based on Cost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41753D-9D54-4553-CBFA-965C28E98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5625"/>
            <a:ext cx="5455920" cy="4351338"/>
          </a:xfrm>
        </p:spPr>
        <p:txBody>
          <a:bodyPr>
            <a:normAutofit/>
          </a:bodyPr>
          <a:lstStyle/>
          <a:p>
            <a:r>
              <a:rPr lang="en-US" sz="2200" dirty="0"/>
              <a:t>Determine minimum cost as a function of available servers and service rate.</a:t>
            </a:r>
          </a:p>
          <a:p>
            <a:r>
              <a:rPr lang="en-US" sz="2200" dirty="0"/>
              <a:t>Set variables:</a:t>
            </a:r>
          </a:p>
          <a:p>
            <a:pPr lvl="1"/>
            <a:r>
              <a:rPr lang="en-US" sz="1600" dirty="0"/>
              <a:t>TSA Base Pay: c</a:t>
            </a:r>
            <a:r>
              <a:rPr lang="en-US" sz="1600" baseline="-25000" dirty="0"/>
              <a:t>s</a:t>
            </a:r>
            <a:r>
              <a:rPr lang="en-US" sz="1600" dirty="0"/>
              <a:t> = $30 [7]</a:t>
            </a:r>
          </a:p>
          <a:p>
            <a:pPr lvl="1"/>
            <a:r>
              <a:rPr lang="en-US" sz="1600" dirty="0"/>
              <a:t>Customer Opportunity Cost: </a:t>
            </a:r>
            <a:r>
              <a:rPr lang="en-US" sz="1600" dirty="0" err="1"/>
              <a:t>c</a:t>
            </a:r>
            <a:r>
              <a:rPr lang="en-US" sz="1600" baseline="-25000" dirty="0" err="1"/>
              <a:t>w</a:t>
            </a:r>
            <a:r>
              <a:rPr lang="en-US" sz="1600" dirty="0"/>
              <a:t> = $37 [2]</a:t>
            </a:r>
          </a:p>
          <a:p>
            <a:pPr lvl="1"/>
            <a:r>
              <a:rPr lang="en-US" sz="1600" dirty="0"/>
              <a:t>Service Rate per server per hour : </a:t>
            </a:r>
            <a:r>
              <a:rPr lang="en-US" sz="1600" dirty="0" err="1"/>
              <a:t>c</a:t>
            </a:r>
            <a:r>
              <a:rPr lang="en-US" sz="1600" baseline="-25000" dirty="0" err="1"/>
              <a:t>μ</a:t>
            </a:r>
            <a:r>
              <a:rPr lang="en-US" sz="1600" dirty="0"/>
              <a:t> = $1.8 [8]</a:t>
            </a:r>
          </a:p>
          <a:p>
            <a:r>
              <a:rPr lang="en-US" sz="2000" dirty="0"/>
              <a:t>Decision variables:</a:t>
            </a:r>
          </a:p>
          <a:p>
            <a:pPr lvl="1"/>
            <a:r>
              <a:rPr lang="en-US" sz="1600" dirty="0"/>
              <a:t>Server Count: c</a:t>
            </a:r>
          </a:p>
          <a:p>
            <a:pPr lvl="1"/>
            <a:r>
              <a:rPr lang="en-US" sz="1600" dirty="0"/>
              <a:t>Service Rate: μ </a:t>
            </a:r>
          </a:p>
          <a:p>
            <a:r>
              <a:rPr lang="en-US" sz="2000" dirty="0"/>
              <a:t>Inferences:</a:t>
            </a:r>
          </a:p>
          <a:p>
            <a:pPr lvl="1"/>
            <a:r>
              <a:rPr lang="en-US" sz="1800" dirty="0"/>
              <a:t>The optimal policy is to operate 12 servers, with a 2.4 passenger service rate.</a:t>
            </a:r>
          </a:p>
          <a:p>
            <a:endParaRPr lang="en-US" sz="2200" dirty="0"/>
          </a:p>
          <a:p>
            <a:pPr lvl="1"/>
            <a:endParaRPr lang="en-US" sz="1600" dirty="0"/>
          </a:p>
          <a:p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17D55F-A463-CE74-030E-83546C38F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929" y="2731703"/>
            <a:ext cx="3352122" cy="12695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A0D46A-FCF9-226F-B723-F50D462BB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380" y="4582715"/>
            <a:ext cx="3953220" cy="41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43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56132-BB7E-4839-4DF2-B04F9C7DD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A4583-2C6B-7782-FAD0-AF5A3A76B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Based on Cost</a:t>
            </a:r>
          </a:p>
        </p:txBody>
      </p:sp>
      <p:pic>
        <p:nvPicPr>
          <p:cNvPr id="9" name="Picture 8" descr="A graph of a graph of a cost contour plot&#10;&#10;AI-generated content may be incorrect.">
            <a:extLst>
              <a:ext uri="{FF2B5EF4-FFF2-40B4-BE49-F238E27FC236}">
                <a16:creationId xmlns:a16="http://schemas.microsoft.com/office/drawing/2014/main" id="{538DDF16-E748-BFEC-E594-CDCB3CE26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093" y="1924491"/>
            <a:ext cx="6206773" cy="408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433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B0064-E4E3-AE05-30B3-AC305D0DC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4E96E-D6CA-DF88-452D-ED563BC54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M/M/c Priority Queue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722415-CB87-ED5F-5155-99D5B9825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282" y="1825625"/>
            <a:ext cx="4321279" cy="3148002"/>
          </a:xfrm>
        </p:spPr>
        <p:txBody>
          <a:bodyPr>
            <a:normAutofit lnSpcReduction="10000"/>
          </a:bodyPr>
          <a:lstStyle/>
          <a:p>
            <a:r>
              <a:rPr lang="en-US" sz="1600" dirty="0"/>
              <a:t>New Coefficients</a:t>
            </a:r>
          </a:p>
          <a:p>
            <a:pPr lvl="1"/>
            <a:r>
              <a:rPr lang="en-US" sz="1600" dirty="0"/>
              <a:t>Arrival Rate: </a:t>
            </a:r>
            <a:r>
              <a:rPr lang="el-GR" sz="1600" dirty="0"/>
              <a:t>λ</a:t>
            </a:r>
            <a:r>
              <a:rPr lang="en-US" sz="1600" dirty="0"/>
              <a:t> = 23.6*</a:t>
            </a:r>
          </a:p>
          <a:p>
            <a:pPr lvl="1"/>
            <a:r>
              <a:rPr lang="en-US" sz="1600" dirty="0"/>
              <a:t>Standard Service Rate: </a:t>
            </a:r>
            <a:r>
              <a:rPr lang="en-US" sz="1600" dirty="0" err="1"/>
              <a:t>μ</a:t>
            </a:r>
            <a:r>
              <a:rPr lang="en-US" sz="1600" baseline="-25000" dirty="0" err="1"/>
              <a:t>reg</a:t>
            </a:r>
            <a:r>
              <a:rPr lang="en-US" sz="1600" dirty="0"/>
              <a:t> = 1.97*</a:t>
            </a:r>
          </a:p>
          <a:p>
            <a:pPr lvl="1"/>
            <a:r>
              <a:rPr lang="en-US" sz="1600" dirty="0"/>
              <a:t>Precheck Service Rate: </a:t>
            </a:r>
            <a:r>
              <a:rPr lang="en-US" sz="1600" dirty="0" err="1"/>
              <a:t>μ</a:t>
            </a:r>
            <a:r>
              <a:rPr lang="en-US" sz="1600" baseline="-25000" dirty="0" err="1"/>
              <a:t>pre</a:t>
            </a:r>
            <a:r>
              <a:rPr lang="en-US" sz="1600" dirty="0"/>
              <a:t> = 2.262*</a:t>
            </a:r>
          </a:p>
          <a:p>
            <a:pPr lvl="1"/>
            <a:r>
              <a:rPr lang="en-US" sz="1600" dirty="0"/>
              <a:t>Server Count: c = 12</a:t>
            </a:r>
          </a:p>
          <a:p>
            <a:pPr lvl="1"/>
            <a:r>
              <a:rPr lang="en-US" sz="1600" dirty="0"/>
              <a:t>Precheck Percentage: </a:t>
            </a:r>
            <a:r>
              <a:rPr lang="en-US" sz="1600" dirty="0" err="1"/>
              <a:t>p</a:t>
            </a:r>
            <a:r>
              <a:rPr lang="en-US" sz="1600" baseline="-25000" dirty="0" err="1"/>
              <a:t>pre</a:t>
            </a:r>
            <a:r>
              <a:rPr lang="en-US" sz="1600" baseline="-25000" dirty="0"/>
              <a:t> </a:t>
            </a:r>
            <a:r>
              <a:rPr lang="en-US" sz="1600" dirty="0"/>
              <a:t>= 27%</a:t>
            </a:r>
          </a:p>
          <a:p>
            <a:r>
              <a:rPr lang="en-US" sz="1600" dirty="0"/>
              <a:t>Simulation Details</a:t>
            </a:r>
          </a:p>
          <a:p>
            <a:pPr lvl="1"/>
            <a:r>
              <a:rPr lang="en-US" sz="1600" dirty="0"/>
              <a:t>Run 500 simulations.</a:t>
            </a:r>
          </a:p>
          <a:p>
            <a:pPr lvl="1"/>
            <a:r>
              <a:rPr lang="en-US" sz="1600" dirty="0"/>
              <a:t>Average over all to collect average wait time, maximum wait time, and passenger throughput.</a:t>
            </a:r>
          </a:p>
          <a:p>
            <a:pPr lvl="1"/>
            <a:endParaRPr lang="en-US" sz="1600" dirty="0"/>
          </a:p>
          <a:p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4574DE-8327-2517-A1CF-56A8A6638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81" y="4973627"/>
            <a:ext cx="4258560" cy="1272975"/>
          </a:xfrm>
          <a:prstGeom prst="rect">
            <a:avLst/>
          </a:prstGeom>
        </p:spPr>
      </p:pic>
      <p:pic>
        <p:nvPicPr>
          <p:cNvPr id="11" name="Picture 10" descr="A graph of a number of times&#10;&#10;AI-generated content may be incorrect.">
            <a:extLst>
              <a:ext uri="{FF2B5EF4-FFF2-40B4-BE49-F238E27FC236}">
                <a16:creationId xmlns:a16="http://schemas.microsoft.com/office/drawing/2014/main" id="{0F968B7A-CD83-D639-321B-DB5C050BE1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421" y="2403030"/>
            <a:ext cx="3643647" cy="2717611"/>
          </a:xfrm>
          <a:prstGeom prst="rect">
            <a:avLst/>
          </a:prstGeom>
        </p:spPr>
      </p:pic>
      <p:pic>
        <p:nvPicPr>
          <p:cNvPr id="13" name="Picture 12" descr="A graph of a customer arrival&#10;&#10;AI-generated content may be incorrect.">
            <a:extLst>
              <a:ext uri="{FF2B5EF4-FFF2-40B4-BE49-F238E27FC236}">
                <a16:creationId xmlns:a16="http://schemas.microsoft.com/office/drawing/2014/main" id="{ACC27DCE-B99F-7DAA-FE4F-FE0889DD23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270" y="2394984"/>
            <a:ext cx="4321279" cy="2791038"/>
          </a:xfrm>
          <a:prstGeom prst="rect">
            <a:avLst/>
          </a:prstGeom>
        </p:spPr>
      </p:pic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883A5D34-A66D-335B-17DA-F98AF0B7A72A}"/>
              </a:ext>
            </a:extLst>
          </p:cNvPr>
          <p:cNvSpPr txBox="1">
            <a:spLocks/>
          </p:cNvSpPr>
          <p:nvPr/>
        </p:nvSpPr>
        <p:spPr>
          <a:xfrm>
            <a:off x="9472125" y="6011372"/>
            <a:ext cx="5183188" cy="470460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200" dirty="0"/>
              <a:t>*rates are in passengers/minute</a:t>
            </a:r>
          </a:p>
        </p:txBody>
      </p:sp>
    </p:spTree>
    <p:extLst>
      <p:ext uri="{BB962C8B-B14F-4D97-AF65-F5344CB8AC3E}">
        <p14:creationId xmlns:p14="http://schemas.microsoft.com/office/powerpoint/2010/main" val="3940050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2AD9F-E977-8A38-5076-E0FEDDA97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487C2-CD7F-3DDA-0E85-D6187FCC1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M/N/c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54C14E-8A35-811D-C550-79ECC92BF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432" y="1825625"/>
            <a:ext cx="6092576" cy="4351338"/>
          </a:xfrm>
        </p:spPr>
        <p:txBody>
          <a:bodyPr>
            <a:normAutofit/>
          </a:bodyPr>
          <a:lstStyle/>
          <a:p>
            <a:r>
              <a:rPr lang="en-US" sz="1600" dirty="0"/>
              <a:t>Next, we model the system as separate lines, representative of an airport security checkpoint.</a:t>
            </a:r>
          </a:p>
          <a:p>
            <a:r>
              <a:rPr lang="en-US" sz="1600" dirty="0"/>
              <a:t>We modeled the service times through a normal distribution</a:t>
            </a:r>
          </a:p>
          <a:p>
            <a:pPr lvl="1"/>
            <a:r>
              <a:rPr lang="en-US" sz="1600" dirty="0"/>
              <a:t>Given the difficulty in identifying service rates, we elected to make assumptions about the standard deviations of service rates.</a:t>
            </a:r>
            <a:endParaRPr lang="en-US" sz="1200" dirty="0"/>
          </a:p>
          <a:p>
            <a:r>
              <a:rPr lang="en-US" sz="1600" dirty="0"/>
              <a:t>We reduced the scope from 12 servers down to 4, which represents 1 checkpoint in a terminal.</a:t>
            </a:r>
          </a:p>
          <a:p>
            <a:r>
              <a:rPr lang="en-US" sz="1600" dirty="0"/>
              <a:t>These servers are split, with 1 server supporting Precheck and 3 supporting standard screening.</a:t>
            </a:r>
          </a:p>
          <a:p>
            <a:r>
              <a:rPr lang="en-US" sz="1600" dirty="0"/>
              <a:t>There are two questions we want to answer</a:t>
            </a:r>
          </a:p>
          <a:p>
            <a:pPr lvl="1"/>
            <a:r>
              <a:rPr lang="en-US" sz="1600" dirty="0"/>
              <a:t>What is the optimal price to minimize wait time?</a:t>
            </a:r>
          </a:p>
          <a:p>
            <a:pPr lvl="1"/>
            <a:r>
              <a:rPr lang="en-US" sz="1600" dirty="0"/>
              <a:t>If the TSA Precheck member goes to 70%, what is the outcome on the wait times?</a:t>
            </a:r>
          </a:p>
        </p:txBody>
      </p:sp>
      <p:pic>
        <p:nvPicPr>
          <p:cNvPr id="3074" name="Picture 2" descr="You Can Get TSA PreCheck for Free—Here's How">
            <a:extLst>
              <a:ext uri="{FF2B5EF4-FFF2-40B4-BE49-F238E27FC236}">
                <a16:creationId xmlns:a16="http://schemas.microsoft.com/office/drawing/2014/main" id="{11C4BA63-9B69-63DA-163C-F62C79597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810" y="2435145"/>
            <a:ext cx="4158049" cy="2774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848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2B7D2-A019-E28A-AC2E-B5073BED6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1C6A-36EC-FBB8-443A-B61C59163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Modeling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04073F-5B58-B318-9635-1CADA79B2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432" y="1825625"/>
            <a:ext cx="5364277" cy="4351338"/>
          </a:xfrm>
        </p:spPr>
        <p:txBody>
          <a:bodyPr>
            <a:normAutofit/>
          </a:bodyPr>
          <a:lstStyle/>
          <a:p>
            <a:r>
              <a:rPr lang="en-US" sz="1600" dirty="0"/>
              <a:t>Model demand using a linear equation, with the values of 30% participation [5] at $76.75 [6].</a:t>
            </a:r>
          </a:p>
          <a:p>
            <a:r>
              <a:rPr lang="en-US" sz="1600" dirty="0"/>
              <a:t>Assume that 100% participation at $0 cost.</a:t>
            </a:r>
          </a:p>
          <a:p>
            <a:r>
              <a:rPr lang="en-US" sz="1600" dirty="0"/>
              <a:t>This leads to a $1.096 per 1% change in participation.</a:t>
            </a:r>
          </a:p>
          <a:p>
            <a:r>
              <a:rPr lang="en-US" sz="1600" dirty="0"/>
              <a:t>New Coefficients</a:t>
            </a:r>
          </a:p>
          <a:p>
            <a:pPr lvl="1"/>
            <a:r>
              <a:rPr lang="en-US" sz="1600" dirty="0"/>
              <a:t>p: TSA </a:t>
            </a:r>
            <a:r>
              <a:rPr lang="en-US" sz="1600" dirty="0" err="1"/>
              <a:t>PreCheck</a:t>
            </a:r>
            <a:r>
              <a:rPr lang="en-US" sz="1600" dirty="0"/>
              <a:t> subscription price</a:t>
            </a:r>
          </a:p>
          <a:p>
            <a:pPr lvl="1"/>
            <a:r>
              <a:rPr lang="en-US" sz="1600" dirty="0"/>
              <a:t>r: change in participation percentage per dollar</a:t>
            </a:r>
            <a:endParaRPr lang="en-US" sz="12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endParaRPr lang="en-US" sz="1600" dirty="0"/>
          </a:p>
          <a:p>
            <a:endParaRPr lang="en-US" sz="1600" dirty="0"/>
          </a:p>
          <a:p>
            <a:pPr lvl="1"/>
            <a:endParaRPr lang="en-US" sz="1600" dirty="0"/>
          </a:p>
          <a:p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B1D0D2-6EBC-CE61-6FBA-BB4CDD505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74" y="4161708"/>
            <a:ext cx="4158452" cy="13389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BA9F31-B7CB-883B-795E-2C95D936B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853" y="2364144"/>
            <a:ext cx="4131237" cy="261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544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F8417-5911-B35E-0B28-0D1ADF254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1EC88-4A12-45BE-59C2-D8541987D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M/N/4 Results</a:t>
            </a:r>
            <a:br>
              <a:rPr lang="en-US" dirty="0"/>
            </a:br>
            <a:r>
              <a:rPr lang="en-US" sz="3200" dirty="0"/>
              <a:t>(1 TSA lane, 3 regular lanes)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D8101-A4BF-CF87-9381-8C1C01F26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713" y="1825626"/>
            <a:ext cx="3312705" cy="22949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AEA98B-330F-E83E-291F-F260222E9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655" y="1835109"/>
            <a:ext cx="3536373" cy="2373730"/>
          </a:xfrm>
          <a:prstGeom prst="rect">
            <a:avLst/>
          </a:prstGeom>
        </p:spPr>
      </p:pic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20028114-D4DC-9CA0-BE18-6D5231EA8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972" y="1825625"/>
            <a:ext cx="5140120" cy="4420629"/>
          </a:xfrm>
        </p:spPr>
        <p:txBody>
          <a:bodyPr>
            <a:noAutofit/>
          </a:bodyPr>
          <a:lstStyle/>
          <a:p>
            <a:r>
              <a:rPr lang="en-US" sz="1600" dirty="0"/>
              <a:t>New Coefficients</a:t>
            </a:r>
          </a:p>
          <a:p>
            <a:pPr lvl="1"/>
            <a:r>
              <a:rPr lang="el-GR" sz="1600" dirty="0"/>
              <a:t>λ</a:t>
            </a:r>
            <a:r>
              <a:rPr lang="en-US" sz="1600" dirty="0"/>
              <a:t> = 7.866*</a:t>
            </a:r>
          </a:p>
          <a:p>
            <a:pPr lvl="1"/>
            <a:r>
              <a:rPr lang="en-US" sz="1600" dirty="0" err="1"/>
              <a:t>μ</a:t>
            </a:r>
            <a:r>
              <a:rPr lang="en-US" sz="1600" baseline="-25000" dirty="0" err="1"/>
              <a:t>reg</a:t>
            </a:r>
            <a:r>
              <a:rPr lang="en-US" sz="1600" dirty="0"/>
              <a:t> = 1.97*</a:t>
            </a:r>
          </a:p>
          <a:p>
            <a:pPr lvl="1"/>
            <a:r>
              <a:rPr lang="en-US" sz="1600" dirty="0" err="1"/>
              <a:t>μ</a:t>
            </a:r>
            <a:r>
              <a:rPr lang="en-US" sz="1600" baseline="-25000" dirty="0" err="1"/>
              <a:t>pre</a:t>
            </a:r>
            <a:r>
              <a:rPr lang="en-US" sz="1600" dirty="0"/>
              <a:t> = 2.262*</a:t>
            </a:r>
          </a:p>
          <a:p>
            <a:r>
              <a:rPr lang="en-US" sz="1600" dirty="0"/>
              <a:t>Identify Optimal Price</a:t>
            </a:r>
          </a:p>
          <a:p>
            <a:pPr lvl="1"/>
            <a:r>
              <a:rPr lang="en-US" sz="1600" dirty="0"/>
              <a:t>1. Simulations ranging from $0 to $120, in $10 increments, run 5 simulations per price.</a:t>
            </a:r>
          </a:p>
          <a:p>
            <a:pPr lvl="1"/>
            <a:r>
              <a:rPr lang="en-US" sz="1600" dirty="0"/>
              <a:t>2. Ran simulations ranging from $70 to $90, in $0.25 increments, running 5 simulations per price.</a:t>
            </a:r>
          </a:p>
          <a:p>
            <a:pPr lvl="1"/>
            <a:r>
              <a:rPr lang="en-US" sz="1600" dirty="0"/>
              <a:t>Optimal price: $76.25  </a:t>
            </a:r>
            <a:r>
              <a:rPr lang="en-US" sz="1600" dirty="0">
                <a:sym typeface="Wingdings" panose="05000000000000000000" pitchFamily="2" charset="2"/>
              </a:rPr>
              <a:t> 30.5% participation.</a:t>
            </a:r>
            <a:endParaRPr lang="en-US" sz="1600" dirty="0"/>
          </a:p>
          <a:p>
            <a:r>
              <a:rPr lang="en-US" sz="1600" dirty="0"/>
              <a:t>Determine Statistics</a:t>
            </a:r>
          </a:p>
          <a:p>
            <a:pPr lvl="1"/>
            <a:r>
              <a:rPr lang="en-US" sz="1600" dirty="0"/>
              <a:t>Run 500 simulations.</a:t>
            </a:r>
          </a:p>
          <a:p>
            <a:pPr lvl="1"/>
            <a:r>
              <a:rPr lang="en-US" sz="1600" dirty="0"/>
              <a:t>Gathered average wait time, maximum wait time, and passenger throughput.</a:t>
            </a:r>
          </a:p>
          <a:p>
            <a:pPr lvl="1"/>
            <a:endParaRPr lang="en-US" sz="1600" dirty="0"/>
          </a:p>
          <a:p>
            <a:endParaRPr lang="en-US" sz="1600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CD8E700-13AE-667D-D7F9-00A986115BBE}"/>
              </a:ext>
            </a:extLst>
          </p:cNvPr>
          <p:cNvSpPr txBox="1">
            <a:spLocks/>
          </p:cNvSpPr>
          <p:nvPr/>
        </p:nvSpPr>
        <p:spPr>
          <a:xfrm>
            <a:off x="9472125" y="6011372"/>
            <a:ext cx="5183188" cy="470460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200" dirty="0"/>
              <a:t>*rates are in passengers/minute</a:t>
            </a:r>
          </a:p>
        </p:txBody>
      </p:sp>
      <p:pic>
        <p:nvPicPr>
          <p:cNvPr id="6" name="Picture 5" descr="A table with numbers and a few lines&#10;&#10;AI-generated content may be incorrect.">
            <a:extLst>
              <a:ext uri="{FF2B5EF4-FFF2-40B4-BE49-F238E27FC236}">
                <a16:creationId xmlns:a16="http://schemas.microsoft.com/office/drawing/2014/main" id="{086DE3F5-AC98-0F79-464B-AB432CEB51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01" y="4539785"/>
            <a:ext cx="3866915" cy="134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119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C7ED1-3536-717A-7489-2CB7688D5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9BAEF-4619-3750-02F5-E80002C06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M/N/4 Results </a:t>
            </a:r>
            <a:br>
              <a:rPr lang="en-US" dirty="0"/>
            </a:br>
            <a:r>
              <a:rPr lang="en-US" sz="3200" dirty="0"/>
              <a:t>(2 TSA lane, 2 regular lanes)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B812A50-2758-D826-A1AD-477E35AC7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75" y="1875880"/>
            <a:ext cx="4397533" cy="2808720"/>
          </a:xfrm>
        </p:spPr>
        <p:txBody>
          <a:bodyPr>
            <a:noAutofit/>
          </a:bodyPr>
          <a:lstStyle/>
          <a:p>
            <a:r>
              <a:rPr lang="en-US" sz="1600" dirty="0"/>
              <a:t>New Coefficients</a:t>
            </a:r>
          </a:p>
          <a:p>
            <a:pPr lvl="1"/>
            <a:r>
              <a:rPr lang="el-GR" sz="1600" dirty="0"/>
              <a:t>λ</a:t>
            </a:r>
            <a:r>
              <a:rPr lang="en-US" sz="1600" dirty="0"/>
              <a:t> = 7.866*</a:t>
            </a:r>
          </a:p>
          <a:p>
            <a:pPr lvl="1"/>
            <a:r>
              <a:rPr lang="en-US" sz="1600" dirty="0" err="1"/>
              <a:t>μ</a:t>
            </a:r>
            <a:r>
              <a:rPr lang="en-US" sz="1600" baseline="-25000" dirty="0" err="1"/>
              <a:t>reg</a:t>
            </a:r>
            <a:r>
              <a:rPr lang="en-US" sz="1600" dirty="0"/>
              <a:t> = 1.97*</a:t>
            </a:r>
          </a:p>
          <a:p>
            <a:pPr lvl="1"/>
            <a:r>
              <a:rPr lang="en-US" sz="1600" dirty="0" err="1"/>
              <a:t>μ</a:t>
            </a:r>
            <a:r>
              <a:rPr lang="en-US" sz="1600" baseline="-25000" dirty="0" err="1"/>
              <a:t>pre</a:t>
            </a:r>
            <a:r>
              <a:rPr lang="en-US" sz="1600" dirty="0"/>
              <a:t> = 2.262*</a:t>
            </a:r>
          </a:p>
          <a:p>
            <a:r>
              <a:rPr lang="en-US" sz="1600" dirty="0"/>
              <a:t>Identify Optimal Price</a:t>
            </a:r>
          </a:p>
          <a:p>
            <a:pPr lvl="1"/>
            <a:r>
              <a:rPr lang="en-US" sz="1600" dirty="0"/>
              <a:t>1. Ran simulations ranging from $0 to $120, in $10 increments, 5 simulations per price.</a:t>
            </a:r>
          </a:p>
          <a:p>
            <a:pPr lvl="1"/>
            <a:r>
              <a:rPr lang="en-US" sz="1600" dirty="0"/>
              <a:t>2. Ran simulations ranging from $38 to $53, in $0.25 increments, 5 simulations per price.</a:t>
            </a:r>
          </a:p>
          <a:p>
            <a:pPr lvl="1"/>
            <a:r>
              <a:rPr lang="en-US" sz="1600" dirty="0"/>
              <a:t>Optimal price: $45  </a:t>
            </a:r>
            <a:r>
              <a:rPr lang="en-US" sz="1600" dirty="0">
                <a:sym typeface="Wingdings" panose="05000000000000000000" pitchFamily="2" charset="2"/>
              </a:rPr>
              <a:t> 57.8% participation.</a:t>
            </a:r>
            <a:endParaRPr lang="en-US" sz="1600" dirty="0"/>
          </a:p>
          <a:p>
            <a:r>
              <a:rPr lang="en-US" sz="1600" dirty="0"/>
              <a:t>Determine Statistics</a:t>
            </a:r>
          </a:p>
          <a:p>
            <a:pPr lvl="1"/>
            <a:r>
              <a:rPr lang="en-US" sz="1600" dirty="0"/>
              <a:t> Run 500 simulations.</a:t>
            </a:r>
          </a:p>
          <a:p>
            <a:pPr lvl="1"/>
            <a:r>
              <a:rPr lang="en-US" sz="1600" dirty="0"/>
              <a:t>Average over each to collect average wait time, maximum wait time and passenger throughput.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E22728-713E-8C21-2226-1A397DDC7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108" y="1977887"/>
            <a:ext cx="3406651" cy="23213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1BB8A0-3CF4-4174-D138-EB3E5EF9E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759" y="1870175"/>
            <a:ext cx="3519066" cy="2404976"/>
          </a:xfrm>
          <a:prstGeom prst="rect">
            <a:avLst/>
          </a:prstGeo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5361FAFE-3775-BF89-1C15-B32343BF802A}"/>
              </a:ext>
            </a:extLst>
          </p:cNvPr>
          <p:cNvSpPr txBox="1">
            <a:spLocks/>
          </p:cNvSpPr>
          <p:nvPr/>
        </p:nvSpPr>
        <p:spPr>
          <a:xfrm>
            <a:off x="9599721" y="6053904"/>
            <a:ext cx="5183188" cy="470460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200" dirty="0"/>
              <a:t>*rates are in passengers/minute</a:t>
            </a:r>
          </a:p>
        </p:txBody>
      </p:sp>
      <p:pic>
        <p:nvPicPr>
          <p:cNvPr id="9" name="Picture 8" descr="A table with numbers and a few lines&#10;&#10;AI-generated content may be incorrect.">
            <a:extLst>
              <a:ext uri="{FF2B5EF4-FFF2-40B4-BE49-F238E27FC236}">
                <a16:creationId xmlns:a16="http://schemas.microsoft.com/office/drawing/2014/main" id="{901948C7-F4F7-7235-BC03-EAEAD0AA91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01" y="4539785"/>
            <a:ext cx="3866915" cy="134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60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3DC98-16A5-2858-D0A5-F19FE3C8F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E6EC4-A2D4-5E3A-B0EE-ABABE9552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Analysis</a:t>
            </a:r>
          </a:p>
        </p:txBody>
      </p:sp>
      <p:pic>
        <p:nvPicPr>
          <p:cNvPr id="5" name="Content Placeholder 4" descr="A graph of a service rate&#10;&#10;AI-generated content may be incorrect.">
            <a:extLst>
              <a:ext uri="{FF2B5EF4-FFF2-40B4-BE49-F238E27FC236}">
                <a16:creationId xmlns:a16="http://schemas.microsoft.com/office/drawing/2014/main" id="{DA67C57E-F88E-3BB8-1F90-2624A7C2C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82" y="2057484"/>
            <a:ext cx="5161211" cy="3063157"/>
          </a:xfrm>
        </p:spPr>
      </p:pic>
      <p:pic>
        <p:nvPicPr>
          <p:cNvPr id="7" name="Picture 6" descr="A graph with orange lines and blue lines&#10;&#10;AI-generated content may be incorrect.">
            <a:extLst>
              <a:ext uri="{FF2B5EF4-FFF2-40B4-BE49-F238E27FC236}">
                <a16:creationId xmlns:a16="http://schemas.microsoft.com/office/drawing/2014/main" id="{ED367B30-4BBE-E754-D9C7-65FEB9F94C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907" y="2128570"/>
            <a:ext cx="5161211" cy="306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431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33DBB-8868-3319-24A5-E190E757B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0D2D-3E17-523D-2017-7C363F2F1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28636-E4DF-BF17-D91E-DAB8A7D30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Built a priority queue M/M/c Model.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Identified parameter values from research and inference.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Optimized total cost under M/M/c priority queue design.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Modified M/M/c to an M/N/c parallel (separate lines) model to simulate a single checkpoint.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Explored different TSA participation rates and effects on wait times.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Examined the sensitivity of our results to parameters</a:t>
            </a:r>
          </a:p>
        </p:txBody>
      </p:sp>
    </p:spTree>
    <p:extLst>
      <p:ext uri="{BB962C8B-B14F-4D97-AF65-F5344CB8AC3E}">
        <p14:creationId xmlns:p14="http://schemas.microsoft.com/office/powerpoint/2010/main" val="3041655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855CF-E416-73B3-D565-3178732F8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2FA4-C93A-48AB-C29A-5D99D0669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C1E64-7B4F-B063-B2D7-EF7831921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[1] Bradley, T. (2003). Staff and Lane Modeling Methodology for TSA Checkpoint Passenger Screening. In Transportation Research Board. Transportation Research Board. Retrieved July 23, 2025, from </a:t>
            </a:r>
            <a:r>
              <a:rPr lang="en-US" dirty="0">
                <a:hlinkClick r:id="rId2"/>
              </a:rPr>
              <a:t>https://www.trb.org/publications/circulars/ec060/06\_Bradley.pdf</a:t>
            </a:r>
            <a:r>
              <a:rPr lang="en-US" dirty="0"/>
              <a:t> </a:t>
            </a:r>
          </a:p>
          <a:p>
            <a:r>
              <a:rPr lang="en-US" dirty="0"/>
              <a:t>[2] DeMarco, J. (2025, April 8). Average US salary by State | SOFI. SoFi. </a:t>
            </a:r>
            <a:r>
              <a:rPr lang="en-US" dirty="0">
                <a:hlinkClick r:id="rId3"/>
              </a:rPr>
              <a:t>https://www.sofi.com/learn/content/average-salary-in-us/</a:t>
            </a:r>
            <a:r>
              <a:rPr lang="en-US" dirty="0"/>
              <a:t> </a:t>
            </a:r>
          </a:p>
          <a:p>
            <a:r>
              <a:rPr lang="en-US" dirty="0"/>
              <a:t>[3] Keefe, M. L. (n.d.). Customs and Border Protection (CBP) - CBP Airport Wait Times (AWT). </a:t>
            </a:r>
            <a:r>
              <a:rPr lang="en-US" dirty="0">
                <a:hlinkClick r:id="rId4"/>
              </a:rPr>
              <a:t>https://awt.cbp.gov/</a:t>
            </a:r>
            <a:r>
              <a:rPr lang="en-US" dirty="0"/>
              <a:t> </a:t>
            </a:r>
          </a:p>
          <a:p>
            <a:r>
              <a:rPr lang="en-US" dirty="0"/>
              <a:t>[4] Li, Y., Ma, L., Zhang, Y., \&amp; Yang, W. (2017). Stability analysis and optimization of airport security system. Engineering Management Research, 6(1), 56. </a:t>
            </a:r>
            <a:r>
              <a:rPr lang="en-US" dirty="0">
                <a:hlinkClick r:id="rId5"/>
              </a:rPr>
              <a:t>https://doi.org/10.5539/emr.v6n1p56</a:t>
            </a:r>
            <a:r>
              <a:rPr lang="en-US" dirty="0"/>
              <a:t> </a:t>
            </a:r>
          </a:p>
          <a:p>
            <a:r>
              <a:rPr lang="en-US" dirty="0"/>
              <a:t>[5] Sachs, A. (2024b, December 5). Have we reached peak </a:t>
            </a:r>
            <a:r>
              <a:rPr lang="en-US" dirty="0" err="1"/>
              <a:t>PreCheck</a:t>
            </a:r>
            <a:r>
              <a:rPr lang="en-US" dirty="0"/>
              <a:t>? The Washington Post. </a:t>
            </a:r>
            <a:r>
              <a:rPr lang="en-US" dirty="0">
                <a:hlinkClick r:id="rId6"/>
              </a:rPr>
              <a:t>https://www.washingtonpost.com/travel/2024/11/28/tsa-precheck-vs-standard-security-line/</a:t>
            </a:r>
            <a:r>
              <a:rPr lang="en-US" dirty="0"/>
              <a:t> </a:t>
            </a:r>
          </a:p>
          <a:p>
            <a:r>
              <a:rPr lang="en-US" dirty="0"/>
              <a:t>[6] Transportation Security Administration. "Apply for TSA </a:t>
            </a:r>
            <a:r>
              <a:rPr lang="en-US" dirty="0" err="1"/>
              <a:t>PreCheck</a:t>
            </a:r>
            <a:r>
              <a:rPr lang="en-US" dirty="0"/>
              <a:t>®." TSA Enrollment by IDEMIA, tsaenrollmentbyidemia.tsa.dhs.gov/programs/precheck.</a:t>
            </a:r>
          </a:p>
          <a:p>
            <a:r>
              <a:rPr lang="en-US" dirty="0"/>
              <a:t>[7] Transportation Officer hourly salaries in Los Angeles, CA at TSA (Transportation Security Administration). (2025). Indeed. Retrieved July 27, 2025, from </a:t>
            </a:r>
            <a:r>
              <a:rPr lang="en-US" dirty="0">
                <a:hlinkClick r:id="rId7"/>
              </a:rPr>
              <a:t>www.indeed.com/cmp/TSA-(transportation-Security-Administration)/salaries/Transportation-Officer/Los-Angeles-CA?period=hourly</a:t>
            </a:r>
            <a:r>
              <a:rPr lang="en-US" dirty="0"/>
              <a:t> </a:t>
            </a:r>
          </a:p>
          <a:p>
            <a:r>
              <a:rPr lang="en-US" dirty="0"/>
              <a:t>[8] TSA boosts recruitment incentive to attract applicants for security screening positions at Denver International Airport. (2022). www.tsa.gov. Retrieved July 27, 2025, from </a:t>
            </a:r>
            <a:r>
              <a:rPr lang="en-US" dirty="0">
                <a:hlinkClick r:id="rId8"/>
              </a:rPr>
              <a:t>https://www.tsa.gov/news/press/releases/2022/11/08/tsa-boosts-recruitment-incentive-attract-applicants-security</a:t>
            </a:r>
            <a:endParaRPr lang="en-US" dirty="0"/>
          </a:p>
          <a:p>
            <a:r>
              <a:rPr lang="en-US" dirty="0"/>
              <a:t>[9] United States Government Accountability Office. (2018). AVIATION SECURITY TSA uses </a:t>
            </a:r>
            <a:r>
              <a:rPr lang="en-US" dirty="0" err="1"/>
              <a:t>currentassumptions</a:t>
            </a:r>
            <a:r>
              <a:rPr lang="en-US" dirty="0"/>
              <a:t> and Airport-Specific data for its staffing process and monitors passenger wait </a:t>
            </a:r>
            <a:r>
              <a:rPr lang="en-US" dirty="0" err="1"/>
              <a:t>timesusing</a:t>
            </a:r>
            <a:r>
              <a:rPr lang="en-US" dirty="0"/>
              <a:t> daily operations data. In Report to Congressional Committees [Report]. </a:t>
            </a:r>
            <a:r>
              <a:rPr lang="en-US" dirty="0">
                <a:hlinkClick r:id="rId9"/>
              </a:rPr>
              <a:t>https://www.gao.gov/assets/gao-18-236.pdf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[10] Wikipedia contributors. (2023, December 20). M/M/c queue. Wikipedia. </a:t>
            </a:r>
            <a:r>
              <a:rPr lang="en-US" dirty="0">
                <a:hlinkClick r:id="rId10"/>
              </a:rPr>
              <a:t>https://en.wikipedia.org/wiki/M/M/c\_queue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[11] Wikipedia contributors. (2025, June 2). Little’s law. Wikipedia. </a:t>
            </a:r>
            <a:r>
              <a:rPr lang="en-US" dirty="0">
                <a:hlinkClick r:id="rId11"/>
              </a:rPr>
              <a:t>https://en.wikipedia.org/wiki/Little\%27s\_law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5000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AA3BF-B186-6A37-75ED-9320E1855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B3A90E-B35B-0F94-7230-D175E2250D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FF19BEF5-8989-9D2E-EB65-83F15B3767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643"/>
          <a:stretch>
            <a:fillRect/>
          </a:stretch>
        </p:blipFill>
        <p:spPr bwMode="auto">
          <a:xfrm>
            <a:off x="1682750" y="0"/>
            <a:ext cx="8248650" cy="530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577618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1285</TotalTime>
  <Words>1580</Words>
  <Application>Microsoft Macintosh PowerPoint</Application>
  <PresentationFormat>Widescreen</PresentationFormat>
  <Paragraphs>180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Courier New</vt:lpstr>
      <vt:lpstr>Wingdings</vt:lpstr>
      <vt:lpstr>Retrospect</vt:lpstr>
      <vt:lpstr>Analysis of Airport Security with Queueing Theory</vt:lpstr>
      <vt:lpstr>Agenda</vt:lpstr>
      <vt:lpstr>Problem and Motivation</vt:lpstr>
      <vt:lpstr>Modeling Airport Security as a Markov Chain (Li et al) [4]</vt:lpstr>
      <vt:lpstr>Finding Parameters</vt:lpstr>
      <vt:lpstr>Approximating μ </vt:lpstr>
      <vt:lpstr>Optimizing Based on Cost</vt:lpstr>
      <vt:lpstr>Optimizing Based on Cost</vt:lpstr>
      <vt:lpstr>M/M/c Priority Queue Model</vt:lpstr>
      <vt:lpstr>Parallel M/N/c </vt:lpstr>
      <vt:lpstr>Demand Modeling</vt:lpstr>
      <vt:lpstr>Parallel M/N/4 Results (1 TSA lane, 3 regular lanes) </vt:lpstr>
      <vt:lpstr>Parallel M/N/4 Results  (2 TSA lane, 2 regular lanes)</vt:lpstr>
      <vt:lpstr>Sensitivity Analysis</vt:lpstr>
      <vt:lpstr>Conclusions</vt:lpstr>
      <vt:lpstr>Sources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Scannell</dc:creator>
  <cp:lastModifiedBy>Vo, Kaylee</cp:lastModifiedBy>
  <cp:revision>34</cp:revision>
  <dcterms:created xsi:type="dcterms:W3CDTF">2025-07-28T00:40:53Z</dcterms:created>
  <dcterms:modified xsi:type="dcterms:W3CDTF">2025-07-29T00:07:15Z</dcterms:modified>
</cp:coreProperties>
</file>
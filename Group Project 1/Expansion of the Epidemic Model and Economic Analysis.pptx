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2" r:id="rId6"/>
    <p:sldId id="258" r:id="rId7"/>
    <p:sldId id="263" r:id="rId8"/>
    <p:sldId id="267" r:id="rId9"/>
    <p:sldId id="261" r:id="rId10"/>
    <p:sldId id="266" r:id="rId11"/>
    <p:sldId id="265" r:id="rId12"/>
    <p:sldId id="264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0DB"/>
    <a:srgbClr val="F3D5B2"/>
    <a:srgbClr val="E0DFDB"/>
    <a:srgbClr val="D9D9D9"/>
    <a:srgbClr val="E3DBD8"/>
    <a:srgbClr val="FFFDF8"/>
    <a:srgbClr val="E4DCD9"/>
    <a:srgbClr val="E2DA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3" autoAdjust="0"/>
    <p:restoredTop sz="94660"/>
  </p:normalViewPr>
  <p:slideViewPr>
    <p:cSldViewPr snapToGrid="0">
      <p:cViewPr varScale="1">
        <p:scale>
          <a:sx n="93" d="100"/>
          <a:sy n="93" d="100"/>
        </p:scale>
        <p:origin x="69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7C78D-91C6-46E5-A984-A680DCBF635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AE774-3C86-4ADB-B2ED-16D6A179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AE774-3C86-4ADB-B2ED-16D6A179F8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01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AE774-3C86-4ADB-B2ED-16D6A179F8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9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0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59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90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1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0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384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66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2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23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02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free-vector/healthy-sick" TargetMode="External"/><Relationship Id="rId7" Type="http://schemas.openxmlformats.org/officeDocument/2006/relationships/image" Target="../media/image6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hyperlink" Target="https://www.istockphoto.com/illustrations/scal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a.gov/regulations_policies/policy_guidance/benefit_cost/econ-value-section-2-tx-values.pdf" TargetMode="External"/><Relationship Id="rId2" Type="http://schemas.openxmlformats.org/officeDocument/2006/relationships/hyperlink" Target="https://doi:10.1371/journal.pone.026581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urworldindata.org/covid-vaccinations" TargetMode="External"/><Relationship Id="rId4" Type="http://schemas.openxmlformats.org/officeDocument/2006/relationships/hyperlink" Target="https://doi.org/10.1017/s0950268822001947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lose up of a blue circle&#10;&#10;AI-generated content may be incorrect.">
            <a:extLst>
              <a:ext uri="{FF2B5EF4-FFF2-40B4-BE49-F238E27FC236}">
                <a16:creationId xmlns:a16="http://schemas.microsoft.com/office/drawing/2014/main" id="{C498DA42-398E-3825-6281-AC78722CA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5F111-D1CA-98FD-CBED-A2526A21E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3700">
                <a:solidFill>
                  <a:schemeClr val="tx1"/>
                </a:solidFill>
              </a:rPr>
              <a:t>Expansion of the Epidemic Model and Economic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68AA4-7535-198B-5919-19CA08224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2000" dirty="0"/>
              <a:t>Kaylee Vo, </a:t>
            </a:r>
          </a:p>
          <a:p>
            <a:r>
              <a:rPr lang="en-US" sz="2000" dirty="0"/>
              <a:t>Tadhg Scannell</a:t>
            </a:r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9D8CC-16F4-4B2B-80F0-203C56D0D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9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D2558-4B91-AE8B-B9B0-4607A0E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6"/>
            <a:ext cx="3100136" cy="1960234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917E67"/>
                </a:solidFill>
              </a:rPr>
              <a:t>Agenda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2EC4E9-A4BD-482F-D8F5-F5CE53C65909}"/>
              </a:ext>
            </a:extLst>
          </p:cNvPr>
          <p:cNvGrpSpPr/>
          <p:nvPr/>
        </p:nvGrpSpPr>
        <p:grpSpPr>
          <a:xfrm>
            <a:off x="4080728" y="10"/>
            <a:ext cx="8111272" cy="6857990"/>
            <a:chOff x="4080728" y="10"/>
            <a:chExt cx="8111272" cy="6857990"/>
          </a:xfrm>
        </p:grpSpPr>
        <p:pic>
          <p:nvPicPr>
            <p:cNvPr id="1026" name="Picture 2" descr="A sign in a hospital hallway&#10;&#10;AI-generated content may be incorrect.">
              <a:extLst>
                <a:ext uri="{FF2B5EF4-FFF2-40B4-BE49-F238E27FC236}">
                  <a16:creationId xmlns:a16="http://schemas.microsoft.com/office/drawing/2014/main" id="{F480592C-436A-0B75-2B82-05950F80D7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" b="18412"/>
            <a:stretch>
              <a:fillRect/>
            </a:stretch>
          </p:blipFill>
          <p:spPr bwMode="auto">
            <a:xfrm>
              <a:off x="4080728" y="10"/>
              <a:ext cx="8111272" cy="6857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2E1B83-B896-9C5A-6DDF-10CE0D4CA1EA}"/>
                </a:ext>
              </a:extLst>
            </p:cNvPr>
            <p:cNvSpPr/>
            <p:nvPr/>
          </p:nvSpPr>
          <p:spPr>
            <a:xfrm>
              <a:off x="5451423" y="2477070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tx1"/>
                  </a:solidFill>
                </a:rPr>
                <a:t>Problem and Motivation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385CAA-7D4D-AD98-00BE-A07C40109735}"/>
                </a:ext>
              </a:extLst>
            </p:cNvPr>
            <p:cNvSpPr/>
            <p:nvPr/>
          </p:nvSpPr>
          <p:spPr>
            <a:xfrm>
              <a:off x="5451422" y="2863932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27AA1F-2B97-A74C-FDB0-3199EFCFD3A2}"/>
                </a:ext>
              </a:extLst>
            </p:cNvPr>
            <p:cNvSpPr/>
            <p:nvPr/>
          </p:nvSpPr>
          <p:spPr>
            <a:xfrm>
              <a:off x="5451421" y="3187418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B18432-46C5-8D01-0BD4-6D7302FCAD8B}"/>
                </a:ext>
              </a:extLst>
            </p:cNvPr>
            <p:cNvSpPr/>
            <p:nvPr/>
          </p:nvSpPr>
          <p:spPr>
            <a:xfrm>
              <a:off x="5451421" y="2832244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tx1"/>
                  </a:solidFill>
                </a:rPr>
                <a:t>Approach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9E1B57-E043-8245-21FF-00129CA02888}"/>
                </a:ext>
              </a:extLst>
            </p:cNvPr>
            <p:cNvSpPr/>
            <p:nvPr/>
          </p:nvSpPr>
          <p:spPr>
            <a:xfrm>
              <a:off x="5688973" y="3194401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Expansion on SIR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DAA496-EF57-830F-E663-2AB7EDC384C7}"/>
                </a:ext>
              </a:extLst>
            </p:cNvPr>
            <p:cNvSpPr/>
            <p:nvPr/>
          </p:nvSpPr>
          <p:spPr>
            <a:xfrm>
              <a:off x="5451421" y="3542593"/>
              <a:ext cx="2444071" cy="241582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Economic Evaluations Models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8A9272-B85F-121F-F9EE-330FB0C33F4F}"/>
                </a:ext>
              </a:extLst>
            </p:cNvPr>
            <p:cNvSpPr/>
            <p:nvPr/>
          </p:nvSpPr>
          <p:spPr>
            <a:xfrm>
              <a:off x="5451421" y="3897766"/>
              <a:ext cx="2444071" cy="256651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Assumptions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CD9C4A-97F0-2765-FCB6-9B1730E0BB04}"/>
                </a:ext>
              </a:extLst>
            </p:cNvPr>
            <p:cNvSpPr/>
            <p:nvPr/>
          </p:nvSpPr>
          <p:spPr>
            <a:xfrm>
              <a:off x="5451421" y="4261027"/>
              <a:ext cx="2444071" cy="241582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Model 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A55ECEA-7F6A-CE22-F33E-C0BF0ECC0B04}"/>
                </a:ext>
              </a:extLst>
            </p:cNvPr>
            <p:cNvSpPr/>
            <p:nvPr/>
          </p:nvSpPr>
          <p:spPr>
            <a:xfrm>
              <a:off x="5451423" y="4598956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3DBD8"/>
                </a:gs>
                <a:gs pos="0">
                  <a:srgbClr val="D9D9D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tx1"/>
                  </a:solidFill>
                </a:rPr>
                <a:t>Sensitivity Analysis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3F422E-65AF-201B-0E29-35757F6EDAD9}"/>
                </a:ext>
              </a:extLst>
            </p:cNvPr>
            <p:cNvSpPr/>
            <p:nvPr/>
          </p:nvSpPr>
          <p:spPr>
            <a:xfrm>
              <a:off x="5451421" y="4954130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9E0DB"/>
                </a:gs>
                <a:gs pos="0">
                  <a:srgbClr val="E0DFD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tx1"/>
                  </a:solidFill>
                </a:rPr>
                <a:t>Conclusion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2362AE5-ACA8-518E-C36C-714D28FA4B39}"/>
                </a:ext>
              </a:extLst>
            </p:cNvPr>
            <p:cNvSpPr/>
            <p:nvPr/>
          </p:nvSpPr>
          <p:spPr>
            <a:xfrm>
              <a:off x="5457285" y="5309304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9E0DB"/>
                </a:gs>
                <a:gs pos="0">
                  <a:srgbClr val="E0DFD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tx1"/>
                  </a:solidFill>
                </a:rPr>
                <a:t>Appendix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3A4CD3-9029-68F3-2052-6D57C23697A6}"/>
                </a:ext>
              </a:extLst>
            </p:cNvPr>
            <p:cNvSpPr/>
            <p:nvPr/>
          </p:nvSpPr>
          <p:spPr>
            <a:xfrm>
              <a:off x="5457283" y="5664478"/>
              <a:ext cx="2206519" cy="241582"/>
            </a:xfrm>
            <a:prstGeom prst="rect">
              <a:avLst/>
            </a:prstGeom>
            <a:gradFill flip="none" rotWithShape="1">
              <a:gsLst>
                <a:gs pos="100000">
                  <a:srgbClr val="E9E0DB"/>
                </a:gs>
                <a:gs pos="0">
                  <a:srgbClr val="E0DFD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9F511E7-9742-A196-3E73-166F1CF34BD6}"/>
              </a:ext>
            </a:extLst>
          </p:cNvPr>
          <p:cNvSpPr/>
          <p:nvPr/>
        </p:nvSpPr>
        <p:spPr>
          <a:xfrm>
            <a:off x="8964809" y="6457940"/>
            <a:ext cx="3145641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Photos from https://www.apcosigns.com/divinesavior.html</a:t>
            </a:r>
          </a:p>
        </p:txBody>
      </p:sp>
    </p:spTree>
    <p:extLst>
      <p:ext uri="{BB962C8B-B14F-4D97-AF65-F5344CB8AC3E}">
        <p14:creationId xmlns:p14="http://schemas.microsoft.com/office/powerpoint/2010/main" val="3977321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F013-1F49-9749-9AC7-32A88C34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3E48-71AE-440E-0E9B-19396843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D1B21-2105-4B3A-A5C0-E8D693B7D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268" y="2108201"/>
            <a:ext cx="5265582" cy="3760891"/>
          </a:xfrm>
        </p:spPr>
        <p:txBody>
          <a:bodyPr>
            <a:normAutofit/>
          </a:bodyPr>
          <a:lstStyle/>
          <a:p>
            <a:r>
              <a:rPr lang="en-US" dirty="0"/>
              <a:t>The SIR model is a useful tool, but it ignores some crucial practicalities.</a:t>
            </a:r>
          </a:p>
          <a:p>
            <a:pPr lvl="1"/>
            <a:r>
              <a:rPr lang="en-US" dirty="0"/>
              <a:t>Not all sick people recover.</a:t>
            </a:r>
          </a:p>
          <a:p>
            <a:pPr lvl="1"/>
            <a:r>
              <a:rPr lang="en-US" dirty="0"/>
              <a:t>The transmission rate is not a time independent.</a:t>
            </a:r>
          </a:p>
          <a:p>
            <a:r>
              <a:rPr lang="en-US" dirty="0"/>
              <a:t>In isolation, the path forward is clear.  Populations should isolate as much as possible, as there is no repercussion. </a:t>
            </a:r>
          </a:p>
          <a:p>
            <a:r>
              <a:rPr lang="en-US" dirty="0"/>
              <a:t>However, we know that this is not how the world works, so can the model be changed and built upon to gain more insight?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EFBED9-B331-9915-610F-56ED02A98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300" y="2858403"/>
            <a:ext cx="2277842" cy="168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Curved Left 3">
            <a:extLst>
              <a:ext uri="{FF2B5EF4-FFF2-40B4-BE49-F238E27FC236}">
                <a16:creationId xmlns:a16="http://schemas.microsoft.com/office/drawing/2014/main" id="{58CD38BE-0DED-AB54-4133-5B5F21DFBD61}"/>
              </a:ext>
            </a:extLst>
          </p:cNvPr>
          <p:cNvSpPr/>
          <p:nvPr/>
        </p:nvSpPr>
        <p:spPr>
          <a:xfrm rot="16200000">
            <a:off x="6960869" y="2016758"/>
            <a:ext cx="490856" cy="133540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F81344-2E0F-1A95-DDC2-F768C0F9F242}"/>
              </a:ext>
            </a:extLst>
          </p:cNvPr>
          <p:cNvSpPr/>
          <p:nvPr/>
        </p:nvSpPr>
        <p:spPr>
          <a:xfrm>
            <a:off x="8912055" y="5988050"/>
            <a:ext cx="3145641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Photos from </a:t>
            </a:r>
            <a:r>
              <a:rPr lang="en-US" sz="800" dirty="0">
                <a:solidFill>
                  <a:schemeClr val="tx1"/>
                </a:solidFill>
                <a:hlinkClick r:id="rId3"/>
              </a:rPr>
              <a:t>https://www.vecteezy.com/free-vector/healthy-sick</a:t>
            </a:r>
            <a:r>
              <a:rPr lang="en-US" sz="800" dirty="0">
                <a:solidFill>
                  <a:schemeClr val="tx1"/>
                </a:solidFill>
              </a:rPr>
              <a:t> and </a:t>
            </a:r>
            <a:r>
              <a:rPr lang="en-US" sz="800" dirty="0">
                <a:solidFill>
                  <a:schemeClr val="tx1"/>
                </a:solidFill>
                <a:hlinkClick r:id="rId4"/>
              </a:rPr>
              <a:t>https://www.istockphoto.com/illustrations/scale</a:t>
            </a:r>
            <a:r>
              <a:rPr lang="en-US" sz="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C8C639D8-2C26-D9F5-381A-A1D18381236B}"/>
              </a:ext>
            </a:extLst>
          </p:cNvPr>
          <p:cNvSpPr/>
          <p:nvPr/>
        </p:nvSpPr>
        <p:spPr>
          <a:xfrm rot="5400000">
            <a:off x="6960867" y="4207510"/>
            <a:ext cx="490856" cy="133540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E39BB25-E108-AA31-5A37-A2E7C548B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850" y="2793710"/>
            <a:ext cx="3828800" cy="238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Group of people with solid fill">
            <a:extLst>
              <a:ext uri="{FF2B5EF4-FFF2-40B4-BE49-F238E27FC236}">
                <a16:creationId xmlns:a16="http://schemas.microsoft.com/office/drawing/2014/main" id="{18AAFB45-FE3C-0F32-3FB6-5D04DC1C31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6992" y="30162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12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0C34-C7B3-D721-EB7B-96477601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95FD-10DA-E14C-DE83-2DF03183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SIR to SEIRD (Beckley et al.)[3]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97F90-146D-3B3C-93B5-4EAFA0614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2"/>
            <a:ext cx="5920378" cy="329837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New Coefficients</a:t>
            </a:r>
          </a:p>
          <a:p>
            <a:pPr lvl="1"/>
            <a:r>
              <a:rPr lang="en-US" dirty="0"/>
              <a:t>c – vaccination rate, the rate at which susceptible individuals are considered recovered.</a:t>
            </a:r>
          </a:p>
          <a:p>
            <a:pPr lvl="1"/>
            <a:r>
              <a:rPr lang="el-GR" dirty="0"/>
              <a:t>γ</a:t>
            </a:r>
            <a:r>
              <a:rPr lang="en-US" dirty="0"/>
              <a:t> – mutation rate, the rate at which recovered individuals become susceptible.</a:t>
            </a:r>
          </a:p>
          <a:p>
            <a:pPr lvl="1"/>
            <a:r>
              <a:rPr lang="en-US" dirty="0"/>
              <a:t>ν - the incubation rate, the rate at which exposed individuals become infected.</a:t>
            </a:r>
          </a:p>
          <a:p>
            <a:pPr lvl="1"/>
            <a:r>
              <a:rPr lang="el-GR" dirty="0"/>
              <a:t>η</a:t>
            </a:r>
            <a:r>
              <a:rPr lang="en-US" dirty="0"/>
              <a:t> – mortality rate, the rate at which infectious individuals become deceased.</a:t>
            </a:r>
          </a:p>
          <a:p>
            <a:pPr lvl="1"/>
            <a:r>
              <a:rPr lang="en-US" dirty="0"/>
              <a:t>S – sharpness, the exponential rate of decline in number of contacts between individuals.</a:t>
            </a:r>
          </a:p>
          <a:p>
            <a:r>
              <a:rPr lang="en-US" dirty="0"/>
              <a:t>Modifications</a:t>
            </a:r>
          </a:p>
          <a:p>
            <a:pPr lvl="1"/>
            <a:r>
              <a:rPr lang="en-US" dirty="0"/>
              <a:t> Turn our transmission rate from a constant to a time dependent variable, used to reflect a difference in transmission rate based on lockdown strategies.  This is calculated by the number of contacts times the  probability of transmission.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Number of contacts was calculated with the rate determined by a lockdown strategy sharpness.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617F7-D2DD-5D6B-DBDC-B7FCCDBA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762"/>
          <a:stretch>
            <a:fillRect/>
          </a:stretch>
        </p:blipFill>
        <p:spPr>
          <a:xfrm>
            <a:off x="2928342" y="4376058"/>
            <a:ext cx="1792514" cy="349264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491840A-9479-F521-CF81-917FEA3FB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114" y="2344057"/>
            <a:ext cx="4325264" cy="270329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0C405E-823A-927E-EBCC-AB171E195001}"/>
              </a:ext>
            </a:extLst>
          </p:cNvPr>
          <p:cNvSpPr txBox="1">
            <a:spLocks/>
          </p:cNvSpPr>
          <p:nvPr/>
        </p:nvSpPr>
        <p:spPr>
          <a:xfrm>
            <a:off x="7823203" y="5120634"/>
            <a:ext cx="3643085" cy="533410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Figure 1: Number of contacts as a function of time during a lockdown strategy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83A99C4-2B37-E4A9-01AE-B9DC241F1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965" y="5447894"/>
            <a:ext cx="5135005" cy="41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0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BBFD-EF76-54AA-8980-F34156E3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00DA-4B43-B614-C784-B69C8D576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SIR to SEIRD cont.</a:t>
            </a: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DAE3C4-76CB-E38D-E5F6-8C82BE426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935" y="2970493"/>
            <a:ext cx="3802693" cy="190134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7CA23D75-EA49-38FC-4AE3-712326F9132D}"/>
              </a:ext>
            </a:extLst>
          </p:cNvPr>
          <p:cNvGrpSpPr/>
          <p:nvPr/>
        </p:nvGrpSpPr>
        <p:grpSpPr>
          <a:xfrm>
            <a:off x="1219203" y="3121460"/>
            <a:ext cx="3408640" cy="1193013"/>
            <a:chOff x="861136" y="2752965"/>
            <a:chExt cx="4096347" cy="133375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DA3A87C-2ABC-8716-FD96-D44E131DF537}"/>
                </a:ext>
              </a:extLst>
            </p:cNvPr>
            <p:cNvSpPr/>
            <p:nvPr/>
          </p:nvSpPr>
          <p:spPr>
            <a:xfrm>
              <a:off x="941294" y="3344955"/>
              <a:ext cx="840441" cy="423582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D2C7778-165E-F5B6-8F90-143C60880F0F}"/>
                </a:ext>
              </a:extLst>
            </p:cNvPr>
            <p:cNvSpPr/>
            <p:nvPr/>
          </p:nvSpPr>
          <p:spPr>
            <a:xfrm>
              <a:off x="2529168" y="3344955"/>
              <a:ext cx="840441" cy="423582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9714447-89B5-9A75-482C-8694129B16C8}"/>
                </a:ext>
              </a:extLst>
            </p:cNvPr>
            <p:cNvSpPr/>
            <p:nvPr/>
          </p:nvSpPr>
          <p:spPr>
            <a:xfrm>
              <a:off x="4117042" y="3344955"/>
              <a:ext cx="840441" cy="423582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895B071-42AE-6DD7-E251-CB497E46D9B7}"/>
                </a:ext>
              </a:extLst>
            </p:cNvPr>
            <p:cNvCxnSpPr/>
            <p:nvPr/>
          </p:nvCxnSpPr>
          <p:spPr>
            <a:xfrm>
              <a:off x="1996888" y="3556746"/>
              <a:ext cx="342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700A35C-E440-48F7-E581-48CB9C98AE25}"/>
                </a:ext>
              </a:extLst>
            </p:cNvPr>
            <p:cNvCxnSpPr/>
            <p:nvPr/>
          </p:nvCxnSpPr>
          <p:spPr>
            <a:xfrm>
              <a:off x="3561229" y="3556746"/>
              <a:ext cx="342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F213AA-CA7A-971E-174C-5808CBDDACEC}"/>
                </a:ext>
              </a:extLst>
            </p:cNvPr>
            <p:cNvSpPr txBox="1"/>
            <p:nvPr/>
          </p:nvSpPr>
          <p:spPr>
            <a:xfrm>
              <a:off x="861136" y="3845859"/>
              <a:ext cx="950317" cy="240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Susceptible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345D86-741B-1F14-D109-947CF8CD12E8}"/>
                </a:ext>
              </a:extLst>
            </p:cNvPr>
            <p:cNvSpPr txBox="1"/>
            <p:nvPr/>
          </p:nvSpPr>
          <p:spPr>
            <a:xfrm>
              <a:off x="2601738" y="3845859"/>
              <a:ext cx="69252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Infected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2F5B5C-4818-37D3-782A-1B138D30159E}"/>
                </a:ext>
              </a:extLst>
            </p:cNvPr>
            <p:cNvSpPr txBox="1"/>
            <p:nvPr/>
          </p:nvSpPr>
          <p:spPr>
            <a:xfrm>
              <a:off x="4084546" y="3845860"/>
              <a:ext cx="840441" cy="240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Recovered</a:t>
              </a: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1A40458-61B2-3739-49D5-527B037894E6}"/>
                </a:ext>
              </a:extLst>
            </p:cNvPr>
            <p:cNvSpPr/>
            <p:nvPr/>
          </p:nvSpPr>
          <p:spPr>
            <a:xfrm>
              <a:off x="1441647" y="2984948"/>
              <a:ext cx="3119717" cy="339815"/>
            </a:xfrm>
            <a:custGeom>
              <a:avLst/>
              <a:gdLst>
                <a:gd name="connsiteX0" fmla="*/ 0 w 3119717"/>
                <a:gd name="connsiteY0" fmla="*/ 242614 h 303126"/>
                <a:gd name="connsiteX1" fmla="*/ 1559858 w 3119717"/>
                <a:gd name="connsiteY1" fmla="*/ 567 h 303126"/>
                <a:gd name="connsiteX2" fmla="*/ 3119717 w 3119717"/>
                <a:gd name="connsiteY2" fmla="*/ 303126 h 303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19717" h="303126">
                  <a:moveTo>
                    <a:pt x="0" y="242614"/>
                  </a:moveTo>
                  <a:cubicBezTo>
                    <a:pt x="519952" y="116548"/>
                    <a:pt x="1039905" y="-9518"/>
                    <a:pt x="1559858" y="567"/>
                  </a:cubicBezTo>
                  <a:cubicBezTo>
                    <a:pt x="2079811" y="10652"/>
                    <a:pt x="2812676" y="275111"/>
                    <a:pt x="3119717" y="303126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CC2C84E8-6310-008B-957B-929B0B3753F8}"/>
                </a:ext>
              </a:extLst>
            </p:cNvPr>
            <p:cNvSpPr/>
            <p:nvPr/>
          </p:nvSpPr>
          <p:spPr>
            <a:xfrm rot="14081340">
              <a:off x="1395671" y="3243369"/>
              <a:ext cx="91951" cy="4852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677FB25-D2DD-C827-FBE2-6808D19F6DFF}"/>
                </a:ext>
              </a:extLst>
            </p:cNvPr>
            <p:cNvSpPr txBox="1"/>
            <p:nvPr/>
          </p:nvSpPr>
          <p:spPr>
            <a:xfrm>
              <a:off x="2020760" y="3301254"/>
              <a:ext cx="21469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CA8F8B7-35B9-4E88-3474-99502B059C1E}"/>
                </a:ext>
              </a:extLst>
            </p:cNvPr>
            <p:cNvSpPr txBox="1"/>
            <p:nvPr/>
          </p:nvSpPr>
          <p:spPr>
            <a:xfrm>
              <a:off x="3611839" y="3301254"/>
              <a:ext cx="21469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b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6E7C59-5D68-3190-A8C5-5E059A76077C}"/>
                </a:ext>
              </a:extLst>
            </p:cNvPr>
            <p:cNvSpPr txBox="1"/>
            <p:nvPr/>
          </p:nvSpPr>
          <p:spPr>
            <a:xfrm>
              <a:off x="2776075" y="2752965"/>
              <a:ext cx="2361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Y</a:t>
              </a:r>
            </a:p>
          </p:txBody>
        </p:sp>
      </p:grpSp>
      <p:sp>
        <p:nvSpPr>
          <p:cNvPr id="63" name="Arrow: Up 62">
            <a:extLst>
              <a:ext uri="{FF2B5EF4-FFF2-40B4-BE49-F238E27FC236}">
                <a16:creationId xmlns:a16="http://schemas.microsoft.com/office/drawing/2014/main" id="{30491E71-B12B-562A-33C1-DA797588C5CB}"/>
              </a:ext>
            </a:extLst>
          </p:cNvPr>
          <p:cNvSpPr/>
          <p:nvPr/>
        </p:nvSpPr>
        <p:spPr>
          <a:xfrm rot="5400000">
            <a:off x="5923280" y="3461241"/>
            <a:ext cx="406400" cy="1172028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A609A-AC0C-094F-90C5-C95A43294ED7}"/>
              </a:ext>
            </a:extLst>
          </p:cNvPr>
          <p:cNvSpPr txBox="1">
            <a:spLocks/>
          </p:cNvSpPr>
          <p:nvPr/>
        </p:nvSpPr>
        <p:spPr>
          <a:xfrm>
            <a:off x="1702256" y="5320257"/>
            <a:ext cx="2487903" cy="53341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Diagram 1: SIR model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BF41FC-3A34-60A9-A311-B896379D47AD}"/>
              </a:ext>
            </a:extLst>
          </p:cNvPr>
          <p:cNvSpPr txBox="1">
            <a:spLocks/>
          </p:cNvSpPr>
          <p:nvPr/>
        </p:nvSpPr>
        <p:spPr>
          <a:xfrm>
            <a:off x="8260074" y="5320257"/>
            <a:ext cx="2487903" cy="533410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Diagram 1: SEIRD model</a:t>
            </a:r>
          </a:p>
        </p:txBody>
      </p:sp>
    </p:spTree>
    <p:extLst>
      <p:ext uri="{BB962C8B-B14F-4D97-AF65-F5344CB8AC3E}">
        <p14:creationId xmlns:p14="http://schemas.microsoft.com/office/powerpoint/2010/main" val="179342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3E40A-0890-EC72-092D-2D566A65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SIR to SEIRD ODES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87575CE-528A-65AE-B987-BE238FC186E8}"/>
              </a:ext>
            </a:extLst>
          </p:cNvPr>
          <p:cNvGrpSpPr/>
          <p:nvPr/>
        </p:nvGrpSpPr>
        <p:grpSpPr>
          <a:xfrm>
            <a:off x="7746345" y="3939611"/>
            <a:ext cx="2136887" cy="2306809"/>
            <a:chOff x="8081850" y="3908860"/>
            <a:chExt cx="2245252" cy="2407091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874CACA-27F1-096C-38CE-D9E0584D1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8045" y="4312147"/>
              <a:ext cx="2092862" cy="2003804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64324A0-A6A2-5D3F-274A-5F3C259D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4183"/>
            <a:stretch>
              <a:fillRect/>
            </a:stretch>
          </p:blipFill>
          <p:spPr>
            <a:xfrm>
              <a:off x="8081850" y="3908860"/>
              <a:ext cx="2245252" cy="597825"/>
            </a:xfrm>
            <a:prstGeom prst="rect">
              <a:avLst/>
            </a:prstGeom>
          </p:spPr>
        </p:pic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22CC0244-3785-6F95-E75E-66CFC5E6F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578" y="3012293"/>
            <a:ext cx="1876131" cy="1901348"/>
          </a:xfrm>
          <a:prstGeom prst="rect">
            <a:avLst/>
          </a:prstGeom>
        </p:spPr>
      </p:pic>
      <p:sp>
        <p:nvSpPr>
          <p:cNvPr id="63" name="Arrow: Up 62">
            <a:extLst>
              <a:ext uri="{FF2B5EF4-FFF2-40B4-BE49-F238E27FC236}">
                <a16:creationId xmlns:a16="http://schemas.microsoft.com/office/drawing/2014/main" id="{A66574E0-70A1-D8F4-F387-766298B7EF61}"/>
              </a:ext>
            </a:extLst>
          </p:cNvPr>
          <p:cNvSpPr/>
          <p:nvPr/>
        </p:nvSpPr>
        <p:spPr>
          <a:xfrm rot="5400000">
            <a:off x="5530967" y="3376953"/>
            <a:ext cx="406400" cy="1172028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D3C8793F-EA5E-15EC-0E40-3EC57C36EA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762"/>
          <a:stretch>
            <a:fillRect/>
          </a:stretch>
        </p:blipFill>
        <p:spPr>
          <a:xfrm>
            <a:off x="7918531" y="3469624"/>
            <a:ext cx="1792514" cy="349264"/>
          </a:xfrm>
          <a:prstGeom prst="rect">
            <a:avLst/>
          </a:prstGeom>
        </p:spPr>
      </p:pic>
      <p:pic>
        <p:nvPicPr>
          <p:cNvPr id="1027" name="Picture 1026">
            <a:extLst>
              <a:ext uri="{FF2B5EF4-FFF2-40B4-BE49-F238E27FC236}">
                <a16:creationId xmlns:a16="http://schemas.microsoft.com/office/drawing/2014/main" id="{711B10D4-B71D-9E57-3329-9754837F7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687" y="2915882"/>
            <a:ext cx="2556203" cy="433018"/>
          </a:xfrm>
          <a:prstGeom prst="rect">
            <a:avLst/>
          </a:prstGeom>
        </p:spPr>
      </p:pic>
      <p:sp>
        <p:nvSpPr>
          <p:cNvPr id="1028" name="Content Placeholder 2">
            <a:extLst>
              <a:ext uri="{FF2B5EF4-FFF2-40B4-BE49-F238E27FC236}">
                <a16:creationId xmlns:a16="http://schemas.microsoft.com/office/drawing/2014/main" id="{45239BD2-8EB4-75B9-F7F0-82020ADA8F42}"/>
              </a:ext>
            </a:extLst>
          </p:cNvPr>
          <p:cNvSpPr txBox="1">
            <a:spLocks/>
          </p:cNvSpPr>
          <p:nvPr/>
        </p:nvSpPr>
        <p:spPr>
          <a:xfrm>
            <a:off x="7570837" y="2261748"/>
            <a:ext cx="2487903" cy="53341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 dirty="0"/>
              <a:t>SEIRD Model ODE’s</a:t>
            </a:r>
          </a:p>
        </p:txBody>
      </p:sp>
      <p:sp>
        <p:nvSpPr>
          <p:cNvPr id="1029" name="Content Placeholder 2">
            <a:extLst>
              <a:ext uri="{FF2B5EF4-FFF2-40B4-BE49-F238E27FC236}">
                <a16:creationId xmlns:a16="http://schemas.microsoft.com/office/drawing/2014/main" id="{FCA72504-98CA-A6B0-5ECE-A1756ED311AF}"/>
              </a:ext>
            </a:extLst>
          </p:cNvPr>
          <p:cNvSpPr txBox="1">
            <a:spLocks/>
          </p:cNvSpPr>
          <p:nvPr/>
        </p:nvSpPr>
        <p:spPr>
          <a:xfrm>
            <a:off x="1660692" y="2261748"/>
            <a:ext cx="2487903" cy="53341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 dirty="0"/>
              <a:t>SIR Model ODE’s</a:t>
            </a:r>
          </a:p>
        </p:txBody>
      </p:sp>
    </p:spTree>
    <p:extLst>
      <p:ext uri="{BB962C8B-B14F-4D97-AF65-F5344CB8AC3E}">
        <p14:creationId xmlns:p14="http://schemas.microsoft.com/office/powerpoint/2010/main" val="1761711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96AC-43D2-FEE3-AEB6-D807FF91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734A-E808-A09F-3C90-FC6CC86F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Costs of Epidemic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D43E88-BC69-DF48-06AF-47109B3DB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2"/>
            <a:ext cx="10506892" cy="3298370"/>
          </a:xfrm>
        </p:spPr>
        <p:txBody>
          <a:bodyPr>
            <a:normAutofit/>
          </a:bodyPr>
          <a:lstStyle/>
          <a:p>
            <a:pPr marL="384048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55A739-8EA5-DEBE-7847-A44D8102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3"/>
          <a:stretch>
            <a:fillRect/>
          </a:stretch>
        </p:blipFill>
        <p:spPr>
          <a:xfrm>
            <a:off x="1291772" y="2864388"/>
            <a:ext cx="9453670" cy="68034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87ED735-2996-08C0-34B1-D616F0A4118C}"/>
              </a:ext>
            </a:extLst>
          </p:cNvPr>
          <p:cNvSpPr txBox="1">
            <a:spLocks/>
          </p:cNvSpPr>
          <p:nvPr/>
        </p:nvSpPr>
        <p:spPr>
          <a:xfrm>
            <a:off x="952137" y="2108202"/>
            <a:ext cx="10506892" cy="387168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Two methods to calculate Economic Impact:</a:t>
            </a:r>
          </a:p>
          <a:p>
            <a:r>
              <a:rPr lang="en-US" dirty="0"/>
              <a:t>Total Cost Calculation: </a:t>
            </a:r>
          </a:p>
          <a:p>
            <a:endParaRPr lang="en-US" dirty="0"/>
          </a:p>
          <a:p>
            <a:pPr lvl="1"/>
            <a:r>
              <a:rPr lang="en-US" dirty="0"/>
              <a:t>Calculates the total cost associated with the value associated with death, plus a decrease in GPD associated with reduction in contacts, plus the cost of caring for patients in a hospital</a:t>
            </a:r>
          </a:p>
          <a:p>
            <a:r>
              <a:rPr lang="en-US" dirty="0"/>
              <a:t>Unit of Productivity Calculation:</a:t>
            </a:r>
          </a:p>
          <a:p>
            <a:endParaRPr lang="en-US" dirty="0"/>
          </a:p>
          <a:p>
            <a:pPr lvl="1"/>
            <a:r>
              <a:rPr lang="en-US" dirty="0"/>
              <a:t>Calculates the total productivity of a SEIRD model population by summing up the expected productivity from each demographic at a given time t.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664D2E-659A-BF70-C2FC-28BFF9E66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011" y="4539535"/>
            <a:ext cx="2154882" cy="63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6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E714-4A3A-60B4-8B48-B36A003A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BDC3-0D7A-DEF4-E040-FD1851A6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2EFC89-5A8F-D714-588E-29785B7A5001}"/>
              </a:ext>
            </a:extLst>
          </p:cNvPr>
          <p:cNvSpPr/>
          <p:nvPr/>
        </p:nvSpPr>
        <p:spPr>
          <a:xfrm>
            <a:off x="412512" y="2113091"/>
            <a:ext cx="6510802" cy="4301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Population Size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2 million.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reflect a mid sized metropolitan area, similar in size to Cleveland, OH or San Jose, CA.</a:t>
            </a:r>
          </a:p>
          <a:p>
            <a:r>
              <a:rPr lang="en-US" sz="1200" dirty="0">
                <a:solidFill>
                  <a:schemeClr val="tx1"/>
                </a:solidFill>
              </a:rPr>
              <a:t>Transmission Rate: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0.1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derived to match the R0 observed by  in 2020 when multiplied with a initial number of contacts equal to 6, reasonable given the Dunbar number from Scotch [11]</a:t>
            </a:r>
          </a:p>
          <a:p>
            <a:r>
              <a:rPr lang="en-US" sz="1200" dirty="0">
                <a:solidFill>
                  <a:schemeClr val="tx1"/>
                </a:solidFill>
              </a:rPr>
              <a:t>Vaccination Rate: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0.015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In 2020-2021, the rate was around .013, as shown by Mathieu et al[8].</a:t>
            </a:r>
          </a:p>
          <a:p>
            <a:r>
              <a:rPr lang="en-US" sz="1200" dirty="0">
                <a:solidFill>
                  <a:schemeClr val="tx1"/>
                </a:solidFill>
              </a:rPr>
              <a:t>Mutation Rate: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0.008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In 2020-2021, the rate was around .008, as shown by Manica et al[7].</a:t>
            </a:r>
          </a:p>
          <a:p>
            <a:r>
              <a:rPr lang="en-US" sz="1200" dirty="0">
                <a:solidFill>
                  <a:schemeClr val="tx1"/>
                </a:solidFill>
              </a:rPr>
              <a:t>Incubation Rate: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0.22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In 2020-2021, the incubation rate was approximately 5 days, as observed by AlQadi et al[1].</a:t>
            </a:r>
          </a:p>
          <a:p>
            <a:r>
              <a:rPr lang="en-US" sz="1200" dirty="0">
                <a:solidFill>
                  <a:schemeClr val="tx1"/>
                </a:solidFill>
              </a:rPr>
              <a:t>Mortality Rate: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0.01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In 2020-2021, Mathieu et al[8] documented case fatality rate, which we converted to a mortality rate.</a:t>
            </a:r>
          </a:p>
          <a:p>
            <a:pPr lvl="1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CF35F2-7670-97CB-D83C-87B18E0A689A}"/>
              </a:ext>
            </a:extLst>
          </p:cNvPr>
          <p:cNvSpPr/>
          <p:nvPr/>
        </p:nvSpPr>
        <p:spPr>
          <a:xfrm>
            <a:off x="6851124" y="2113091"/>
            <a:ext cx="4928364" cy="430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Recovery Rate: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0.05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This is in line with the recovery rate observed by Oelsner et al [10].</a:t>
            </a:r>
          </a:p>
          <a:p>
            <a:r>
              <a:rPr lang="en-US" sz="1200" dirty="0">
                <a:solidFill>
                  <a:schemeClr val="tx1"/>
                </a:solidFill>
              </a:rPr>
              <a:t>Hospital Cost: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$15,000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Kapinos et al[6] documented cost for COVID-19 treatments in 2020 and derived to this use case.</a:t>
            </a:r>
          </a:p>
          <a:p>
            <a:r>
              <a:rPr lang="en-US" sz="1200" dirty="0">
                <a:solidFill>
                  <a:schemeClr val="tx1"/>
                </a:solidFill>
              </a:rPr>
              <a:t>Hospital Capacity: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0.3% of the population, or 6000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Derived from data provided by the American Health Association on available hospital beds[2].</a:t>
            </a:r>
          </a:p>
          <a:p>
            <a:r>
              <a:rPr lang="en-US" sz="1200" dirty="0">
                <a:solidFill>
                  <a:schemeClr val="tx1"/>
                </a:solidFill>
              </a:rPr>
              <a:t>Total GDP per Day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$1 Billion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Assumption from the team derived from the midpoint of income levels in low and high income MSA’s.</a:t>
            </a:r>
          </a:p>
          <a:p>
            <a:r>
              <a:rPr lang="en-US" sz="1200" dirty="0">
                <a:solidFill>
                  <a:schemeClr val="tx1"/>
                </a:solidFill>
              </a:rPr>
              <a:t>Value of Life: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Value: $15 Million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Justification: The Federal Aviation Administration[5] suggests a range of $7.9 million to $18.5 million for value of a statistical life.  With that guidance, $15 million is reasonable.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33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54F0-8492-33E1-6FE6-64364F6D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SEIRD Models Results</a:t>
            </a:r>
          </a:p>
        </p:txBody>
      </p:sp>
      <p:pic>
        <p:nvPicPr>
          <p:cNvPr id="5" name="Content Placeholder 4" descr="A graph of a model with a lockdown&#10;&#10;AI-generated content may be incorrect.">
            <a:extLst>
              <a:ext uri="{FF2B5EF4-FFF2-40B4-BE49-F238E27FC236}">
                <a16:creationId xmlns:a16="http://schemas.microsoft.com/office/drawing/2014/main" id="{75A0D059-FB12-F542-0528-9F309C64F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99" y="1969601"/>
            <a:ext cx="4150992" cy="2490596"/>
          </a:xfrm>
        </p:spPr>
      </p:pic>
      <p:pic>
        <p:nvPicPr>
          <p:cNvPr id="7" name="Picture 6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09AFA6DE-EE64-7E37-F3A7-7650E78E5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302" y="1932842"/>
            <a:ext cx="4288916" cy="2573350"/>
          </a:xfrm>
          <a:prstGeom prst="rect">
            <a:avLst/>
          </a:prstGeom>
        </p:spPr>
      </p:pic>
      <p:pic>
        <p:nvPicPr>
          <p:cNvPr id="10" name="Picture 9" descr="A graph with a red line&#10;&#10;AI-generated content may be incorrect.">
            <a:extLst>
              <a:ext uri="{FF2B5EF4-FFF2-40B4-BE49-F238E27FC236}">
                <a16:creationId xmlns:a16="http://schemas.microsoft.com/office/drawing/2014/main" id="{07C0ACB6-1603-3D21-B1C6-9F866B081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16"/>
          <a:stretch>
            <a:fillRect/>
          </a:stretch>
        </p:blipFill>
        <p:spPr>
          <a:xfrm>
            <a:off x="7903811" y="2547291"/>
            <a:ext cx="4150992" cy="257335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507EEC3-45E2-983A-67A3-DE012166E6DF}"/>
              </a:ext>
            </a:extLst>
          </p:cNvPr>
          <p:cNvSpPr txBox="1">
            <a:spLocks/>
          </p:cNvSpPr>
          <p:nvPr/>
        </p:nvSpPr>
        <p:spPr>
          <a:xfrm>
            <a:off x="1742853" y="4507837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0B96E9E-86A7-8E99-78AB-EB552138D8AF}"/>
              </a:ext>
            </a:extLst>
          </p:cNvPr>
          <p:cNvSpPr txBox="1">
            <a:spLocks/>
          </p:cNvSpPr>
          <p:nvPr/>
        </p:nvSpPr>
        <p:spPr>
          <a:xfrm>
            <a:off x="5786323" y="4501574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3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41B583B-6401-9205-DEBD-70A1C6EF4B4E}"/>
              </a:ext>
            </a:extLst>
          </p:cNvPr>
          <p:cNvSpPr txBox="1">
            <a:spLocks/>
          </p:cNvSpPr>
          <p:nvPr/>
        </p:nvSpPr>
        <p:spPr>
          <a:xfrm>
            <a:off x="9777686" y="5120641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79E1CA-DEE3-1E73-CB73-FBFA74EEE854}"/>
              </a:ext>
            </a:extLst>
          </p:cNvPr>
          <p:cNvSpPr/>
          <p:nvPr/>
        </p:nvSpPr>
        <p:spPr>
          <a:xfrm>
            <a:off x="1044446" y="5028236"/>
            <a:ext cx="5039513" cy="533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Parameters:</a:t>
            </a:r>
          </a:p>
          <a:p>
            <a:r>
              <a:rPr lang="en-US" sz="1200" dirty="0">
                <a:solidFill>
                  <a:schemeClr val="tx1"/>
                </a:solidFill>
              </a:rPr>
              <a:t>	Population  [S, E, I, R, D] = [1.998.000, 2000, 0, 0, 0 ]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53EB67-D696-0A46-F547-DDDA3690C980}"/>
              </a:ext>
            </a:extLst>
          </p:cNvPr>
          <p:cNvSpPr/>
          <p:nvPr/>
        </p:nvSpPr>
        <p:spPr>
          <a:xfrm>
            <a:off x="1326458" y="5699276"/>
            <a:ext cx="5923466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Vaccination Rate: 0.69/365</a:t>
            </a:r>
          </a:p>
          <a:p>
            <a:r>
              <a:rPr lang="en-US" sz="1200" dirty="0">
                <a:solidFill>
                  <a:schemeClr val="tx1"/>
                </a:solidFill>
              </a:rPr>
              <a:t>Mutation Rate: 0.008</a:t>
            </a:r>
          </a:p>
          <a:p>
            <a:r>
              <a:rPr lang="en-US" sz="1200" dirty="0">
                <a:solidFill>
                  <a:schemeClr val="tx1"/>
                </a:solidFill>
              </a:rPr>
              <a:t>Incubation Rate: 0.22</a:t>
            </a:r>
          </a:p>
          <a:p>
            <a:r>
              <a:rPr lang="en-US" sz="1200" dirty="0">
                <a:solidFill>
                  <a:schemeClr val="tx1"/>
                </a:solidFill>
              </a:rPr>
              <a:t>Mortality Rate: .01</a:t>
            </a:r>
          </a:p>
          <a:p>
            <a:r>
              <a:rPr lang="en-US" sz="1200" dirty="0">
                <a:solidFill>
                  <a:schemeClr val="tx1"/>
                </a:solidFill>
              </a:rPr>
              <a:t>Lockdown Sharpness: -0.1</a:t>
            </a:r>
          </a:p>
          <a:p>
            <a:r>
              <a:rPr lang="en-US" sz="1200" dirty="0">
                <a:solidFill>
                  <a:schemeClr val="tx1"/>
                </a:solidFill>
              </a:rPr>
              <a:t>Transmission Rate: 0.1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Recovery Rate: 0.05</a:t>
            </a:r>
          </a:p>
        </p:txBody>
      </p:sp>
    </p:spTree>
    <p:extLst>
      <p:ext uri="{BB962C8B-B14F-4D97-AF65-F5344CB8AC3E}">
        <p14:creationId xmlns:p14="http://schemas.microsoft.com/office/powerpoint/2010/main" val="272398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B449-F427-5999-92C1-6EEC7DD79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Productivity Associated with Lockdown Strategies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50E504-25DB-0141-1C5C-311560DC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21" y="2092868"/>
            <a:ext cx="2154882" cy="632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69AC3A-D312-6616-4BF7-D8D960D1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98" y="3118997"/>
            <a:ext cx="2376728" cy="330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B583ED-177E-E591-6F5A-C2897DFED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55" y="4926177"/>
            <a:ext cx="2551214" cy="2586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CA342F1-0E4A-7606-1910-FE3A92DD7C7A}"/>
              </a:ext>
            </a:extLst>
          </p:cNvPr>
          <p:cNvSpPr/>
          <p:nvPr/>
        </p:nvSpPr>
        <p:spPr>
          <a:xfrm>
            <a:off x="1250003" y="2871209"/>
            <a:ext cx="1601919" cy="1856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Scenario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FF5D8-4EB3-5C8D-C248-A22A23A234D0}"/>
              </a:ext>
            </a:extLst>
          </p:cNvPr>
          <p:cNvSpPr/>
          <p:nvPr/>
        </p:nvSpPr>
        <p:spPr>
          <a:xfrm>
            <a:off x="744952" y="4641882"/>
            <a:ext cx="2612023" cy="1856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Scenario 2 (s=-0.1) &amp; 3 (s =-0.04)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51B624-8637-2229-E637-FB4EE0D4B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514" y="3024015"/>
            <a:ext cx="3308290" cy="19590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53F117-6913-CA76-0263-E7BF61EBE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3493" y="3024015"/>
            <a:ext cx="3356587" cy="2094876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8AEE21-202A-E2AF-F053-4B0AD4A4913E}"/>
              </a:ext>
            </a:extLst>
          </p:cNvPr>
          <p:cNvSpPr txBox="1">
            <a:spLocks/>
          </p:cNvSpPr>
          <p:nvPr/>
        </p:nvSpPr>
        <p:spPr>
          <a:xfrm>
            <a:off x="6703160" y="5128753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5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1AF0F58-1994-56F8-6E38-744645E90588}"/>
              </a:ext>
            </a:extLst>
          </p:cNvPr>
          <p:cNvSpPr txBox="1">
            <a:spLocks/>
          </p:cNvSpPr>
          <p:nvPr/>
        </p:nvSpPr>
        <p:spPr>
          <a:xfrm>
            <a:off x="10182484" y="5211706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E0CB74-98A8-574B-B6B7-CB668157920E}"/>
              </a:ext>
            </a:extLst>
          </p:cNvPr>
          <p:cNvSpPr/>
          <p:nvPr/>
        </p:nvSpPr>
        <p:spPr>
          <a:xfrm>
            <a:off x="410740" y="3512771"/>
            <a:ext cx="4486497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S : 1, a healthy individual contributes 1 unit.  This is the comparison point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E: 0.8, an exposed individual on average contributes 0.8 productivity units, an assumption from the group.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I: -0.25, an infected individual requires care, with registered nurse to patient ratios taken from House Bill 2697 from Oregon []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R: 1, considered a healthy individual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D: 0, a deceased individual does not contribute any productivity units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6E2708-03B8-1162-A0C4-48CB1ADBB096}"/>
              </a:ext>
            </a:extLst>
          </p:cNvPr>
          <p:cNvSpPr/>
          <p:nvPr/>
        </p:nvSpPr>
        <p:spPr>
          <a:xfrm>
            <a:off x="452094" y="5329393"/>
            <a:ext cx="4486497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S : .9 – a person working in lockdown is estimated to be 10% less effective, from Gibs et al []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E: 0.8, an exposed individual on average contributes 0.8 productivity units, an assumption from the group.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I: -0.25, an infected individual requires care, with registered nurse to patient ratios taken from House Bill 2697 from Oregon []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R: .9, considered a healthy individual working in lockdown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D: 0, a deceased individual does not contribute any productivity units</a:t>
            </a:r>
          </a:p>
        </p:txBody>
      </p:sp>
    </p:spTree>
    <p:extLst>
      <p:ext uri="{BB962C8B-B14F-4D97-AF65-F5344CB8AC3E}">
        <p14:creationId xmlns:p14="http://schemas.microsoft.com/office/powerpoint/2010/main" val="3373909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99E1-41BC-8B17-909F-1FA98D11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08B3-AF1D-528A-74C5-ABDA9F53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Sharpness</a:t>
            </a:r>
          </a:p>
        </p:txBody>
      </p:sp>
      <p:pic>
        <p:nvPicPr>
          <p:cNvPr id="9" name="Picture 8" descr="A graph with a blue line and a red line&#10;&#10;AI-generated content may be incorrect.">
            <a:extLst>
              <a:ext uri="{FF2B5EF4-FFF2-40B4-BE49-F238E27FC236}">
                <a16:creationId xmlns:a16="http://schemas.microsoft.com/office/drawing/2014/main" id="{8AC57248-6BC2-DB67-2D39-10EFBCEE1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1653"/>
            <a:ext cx="5232408" cy="2616204"/>
          </a:xfrm>
          <a:prstGeom prst="rect">
            <a:avLst/>
          </a:prstGeom>
        </p:spPr>
      </p:pic>
      <p:pic>
        <p:nvPicPr>
          <p:cNvPr id="14" name="Content Placeholder 13" descr="A graph of a graph showing a sharpness curve&#10;&#10;AI-generated content may be incorrect.">
            <a:extLst>
              <a:ext uri="{FF2B5EF4-FFF2-40B4-BE49-F238E27FC236}">
                <a16:creationId xmlns:a16="http://schemas.microsoft.com/office/drawing/2014/main" id="{DF35EC2E-9315-C31A-DB5D-187E46761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53" y="2001653"/>
            <a:ext cx="5232408" cy="2616204"/>
          </a:xfr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A8472C7-3307-3005-1EEB-627C374A66DB}"/>
              </a:ext>
            </a:extLst>
          </p:cNvPr>
          <p:cNvSpPr/>
          <p:nvPr/>
        </p:nvSpPr>
        <p:spPr>
          <a:xfrm>
            <a:off x="226972" y="4975003"/>
            <a:ext cx="5039513" cy="533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Parameters: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	Population  [S, E, I, R, D] = [1.999.999, 1, 0, 0, 0 ]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E0CA3F-BA7E-AB7A-CEE5-B5AC19950789}"/>
              </a:ext>
            </a:extLst>
          </p:cNvPr>
          <p:cNvSpPr/>
          <p:nvPr/>
        </p:nvSpPr>
        <p:spPr>
          <a:xfrm>
            <a:off x="6122414" y="4975002"/>
            <a:ext cx="5039513" cy="533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Parameters: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	Population  [S, E, I, R, D] = [1.999.999, 1, 0, 0, 0 ]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F7F910-BC5D-1292-4ABC-B95423576BF7}"/>
              </a:ext>
            </a:extLst>
          </p:cNvPr>
          <p:cNvSpPr/>
          <p:nvPr/>
        </p:nvSpPr>
        <p:spPr>
          <a:xfrm>
            <a:off x="10047290" y="5623648"/>
            <a:ext cx="2068195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Hospital Capacity: 6000 </a:t>
            </a:r>
          </a:p>
          <a:p>
            <a:r>
              <a:rPr lang="en-US" sz="1200" dirty="0">
                <a:solidFill>
                  <a:schemeClr val="tx1"/>
                </a:solidFill>
              </a:rPr>
              <a:t>GDP per Day: $1 Billion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Value of Life: $15 million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2BD419-B73E-B476-1B56-DC69DBE7B86B}"/>
              </a:ext>
            </a:extLst>
          </p:cNvPr>
          <p:cNvSpPr/>
          <p:nvPr/>
        </p:nvSpPr>
        <p:spPr>
          <a:xfrm>
            <a:off x="3885717" y="5623647"/>
            <a:ext cx="2068195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Hospital Capacity: 6000</a:t>
            </a:r>
          </a:p>
          <a:p>
            <a:r>
              <a:rPr lang="en-US" sz="1200" dirty="0">
                <a:solidFill>
                  <a:schemeClr val="tx1"/>
                </a:solidFill>
              </a:rPr>
              <a:t>GDP per Day: $1 Billion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Value of Life: $15 million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05B203-68FA-F385-3BF9-FE7D1236A21E}"/>
              </a:ext>
            </a:extLst>
          </p:cNvPr>
          <p:cNvSpPr/>
          <p:nvPr/>
        </p:nvSpPr>
        <p:spPr>
          <a:xfrm>
            <a:off x="0" y="5623647"/>
            <a:ext cx="4331952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Vaccination Rate: 0.0018</a:t>
            </a:r>
          </a:p>
          <a:p>
            <a:r>
              <a:rPr lang="en-US" sz="1200" dirty="0">
                <a:solidFill>
                  <a:schemeClr val="tx1"/>
                </a:solidFill>
              </a:rPr>
              <a:t>Mutation Rate: 0.008</a:t>
            </a:r>
          </a:p>
          <a:p>
            <a:r>
              <a:rPr lang="en-US" sz="1200" dirty="0">
                <a:solidFill>
                  <a:schemeClr val="tx1"/>
                </a:solidFill>
              </a:rPr>
              <a:t>Incubation Rate: 0.22</a:t>
            </a:r>
          </a:p>
          <a:p>
            <a:r>
              <a:rPr lang="en-US" sz="1200" dirty="0">
                <a:solidFill>
                  <a:schemeClr val="tx1"/>
                </a:solidFill>
              </a:rPr>
              <a:t>Mortality Rate: .01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Recovery Rate: 0.05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73C00B-42DB-D58C-5970-66F8E9F194D6}"/>
              </a:ext>
            </a:extLst>
          </p:cNvPr>
          <p:cNvSpPr/>
          <p:nvPr/>
        </p:nvSpPr>
        <p:spPr>
          <a:xfrm>
            <a:off x="6037617" y="5623647"/>
            <a:ext cx="4331952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Vaccination Rate: 0.0018</a:t>
            </a:r>
          </a:p>
          <a:p>
            <a:r>
              <a:rPr lang="en-US" sz="1200" dirty="0">
                <a:solidFill>
                  <a:schemeClr val="tx1"/>
                </a:solidFill>
              </a:rPr>
              <a:t>Mutation Rate: 0.008</a:t>
            </a:r>
          </a:p>
          <a:p>
            <a:r>
              <a:rPr lang="en-US" sz="1200" dirty="0">
                <a:solidFill>
                  <a:schemeClr val="tx1"/>
                </a:solidFill>
              </a:rPr>
              <a:t>Incubation Rate: 0.22</a:t>
            </a:r>
          </a:p>
          <a:p>
            <a:r>
              <a:rPr lang="en-US" sz="1200" dirty="0">
                <a:solidFill>
                  <a:schemeClr val="tx1"/>
                </a:solidFill>
              </a:rPr>
              <a:t>Mortality Rate: .01</a:t>
            </a:r>
          </a:p>
          <a:p>
            <a:r>
              <a:rPr lang="en-US" sz="1200" dirty="0">
                <a:solidFill>
                  <a:schemeClr val="tx1"/>
                </a:solidFill>
              </a:rPr>
              <a:t>Transmission Rate: 0.1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Recovery Rate: 0.05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AA43B81-F9D7-A05E-2CD6-D4D73F22C400}"/>
              </a:ext>
            </a:extLst>
          </p:cNvPr>
          <p:cNvSpPr txBox="1">
            <a:spLocks/>
          </p:cNvSpPr>
          <p:nvPr/>
        </p:nvSpPr>
        <p:spPr>
          <a:xfrm>
            <a:off x="8609286" y="4617857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8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FBA6014-F1CA-E84B-2585-41C2FD0B56BE}"/>
              </a:ext>
            </a:extLst>
          </p:cNvPr>
          <p:cNvSpPr txBox="1">
            <a:spLocks/>
          </p:cNvSpPr>
          <p:nvPr/>
        </p:nvSpPr>
        <p:spPr>
          <a:xfrm>
            <a:off x="3034318" y="4617857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7</a:t>
            </a:r>
          </a:p>
        </p:txBody>
      </p:sp>
    </p:spTree>
    <p:extLst>
      <p:ext uri="{BB962C8B-B14F-4D97-AF65-F5344CB8AC3E}">
        <p14:creationId xmlns:p14="http://schemas.microsoft.com/office/powerpoint/2010/main" val="385253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AEA6-256E-991C-F3B4-D1AAA597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Analysis</a:t>
            </a:r>
          </a:p>
        </p:txBody>
      </p:sp>
      <p:pic>
        <p:nvPicPr>
          <p:cNvPr id="7" name="Content Placeholder 6" descr="A graph of a number of life-size indicators&#10;&#10;AI-generated content may be incorrect.">
            <a:extLst>
              <a:ext uri="{FF2B5EF4-FFF2-40B4-BE49-F238E27FC236}">
                <a16:creationId xmlns:a16="http://schemas.microsoft.com/office/drawing/2014/main" id="{3A4BAFDB-7D91-2827-701E-85BBB03A8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19" y="2009970"/>
            <a:ext cx="4104104" cy="2462462"/>
          </a:xfrm>
        </p:spPr>
      </p:pic>
      <p:pic>
        <p:nvPicPr>
          <p:cNvPr id="10" name="Picture 9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77CB7A09-702D-3037-A4E1-38BDCF2BC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1893302"/>
            <a:ext cx="5275950" cy="26379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4435878-0C17-B957-50EF-E38E5162B928}"/>
              </a:ext>
            </a:extLst>
          </p:cNvPr>
          <p:cNvSpPr/>
          <p:nvPr/>
        </p:nvSpPr>
        <p:spPr>
          <a:xfrm>
            <a:off x="226972" y="4975003"/>
            <a:ext cx="5039513" cy="533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Parameters: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	Population  [S, E, I, R, D] = [1.999.999, 1, 0, 0, 0 ]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A8F3E9-3481-7F55-6E82-B4C2565CAD81}"/>
              </a:ext>
            </a:extLst>
          </p:cNvPr>
          <p:cNvSpPr/>
          <p:nvPr/>
        </p:nvSpPr>
        <p:spPr>
          <a:xfrm>
            <a:off x="3967692" y="5541146"/>
            <a:ext cx="2068195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Hospital Capacity: 6000</a:t>
            </a:r>
          </a:p>
          <a:p>
            <a:r>
              <a:rPr lang="en-US" sz="1200" dirty="0">
                <a:solidFill>
                  <a:schemeClr val="tx1"/>
                </a:solidFill>
              </a:rPr>
              <a:t> GDP per Day: 1000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43C211-4752-0F1C-F17D-876798CB0AA9}"/>
              </a:ext>
            </a:extLst>
          </p:cNvPr>
          <p:cNvSpPr/>
          <p:nvPr/>
        </p:nvSpPr>
        <p:spPr>
          <a:xfrm>
            <a:off x="10099364" y="5541146"/>
            <a:ext cx="2068195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Hospital Capacity: 6000</a:t>
            </a:r>
          </a:p>
          <a:p>
            <a:r>
              <a:rPr lang="en-US" sz="1200" dirty="0">
                <a:solidFill>
                  <a:schemeClr val="tx1"/>
                </a:solidFill>
              </a:rPr>
              <a:t>Value of Life: $15 million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4CF947-F6DD-AB0D-75A3-BE65FED71E17}"/>
              </a:ext>
            </a:extLst>
          </p:cNvPr>
          <p:cNvSpPr/>
          <p:nvPr/>
        </p:nvSpPr>
        <p:spPr>
          <a:xfrm>
            <a:off x="6262391" y="4975003"/>
            <a:ext cx="5039513" cy="533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Parameters: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	Population  [S, E, I, R, D] = [1.999.999, 1, 0, 0, 0 ]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DEC433-1F80-817D-1B4C-4D5C52C05301}"/>
              </a:ext>
            </a:extLst>
          </p:cNvPr>
          <p:cNvSpPr/>
          <p:nvPr/>
        </p:nvSpPr>
        <p:spPr>
          <a:xfrm>
            <a:off x="232649" y="5634290"/>
            <a:ext cx="4084969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Vaccination Rate: 0.0018</a:t>
            </a:r>
          </a:p>
          <a:p>
            <a:r>
              <a:rPr lang="en-US" sz="1200" dirty="0">
                <a:solidFill>
                  <a:schemeClr val="tx1"/>
                </a:solidFill>
              </a:rPr>
              <a:t>Mutation Rate: 0.008</a:t>
            </a:r>
          </a:p>
          <a:p>
            <a:r>
              <a:rPr lang="en-US" sz="1200" dirty="0">
                <a:solidFill>
                  <a:schemeClr val="tx1"/>
                </a:solidFill>
              </a:rPr>
              <a:t>Incubation Rate: 0.22</a:t>
            </a:r>
          </a:p>
          <a:p>
            <a:r>
              <a:rPr lang="en-US" sz="1200" dirty="0">
                <a:solidFill>
                  <a:schemeClr val="tx1"/>
                </a:solidFill>
              </a:rPr>
              <a:t>Transmission Rate: 0.1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Recovery Rate: 0.05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C16485-1D52-A8EE-BFB5-45530D8B26A0}"/>
              </a:ext>
            </a:extLst>
          </p:cNvPr>
          <p:cNvSpPr/>
          <p:nvPr/>
        </p:nvSpPr>
        <p:spPr>
          <a:xfrm>
            <a:off x="6021448" y="5610555"/>
            <a:ext cx="5187092" cy="533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Vaccination Rate:  0.0018</a:t>
            </a:r>
          </a:p>
          <a:p>
            <a:r>
              <a:rPr lang="en-US" sz="1200" dirty="0">
                <a:solidFill>
                  <a:schemeClr val="tx1"/>
                </a:solidFill>
              </a:rPr>
              <a:t>Mutation Rate: 0.008</a:t>
            </a:r>
          </a:p>
          <a:p>
            <a:r>
              <a:rPr lang="en-US" sz="1200" dirty="0">
                <a:solidFill>
                  <a:schemeClr val="tx1"/>
                </a:solidFill>
              </a:rPr>
              <a:t>Incubation Rate: 0.22</a:t>
            </a:r>
          </a:p>
          <a:p>
            <a:r>
              <a:rPr lang="en-US" sz="1200" dirty="0">
                <a:solidFill>
                  <a:schemeClr val="tx1"/>
                </a:solidFill>
              </a:rPr>
              <a:t>Mortality Rate: .01</a:t>
            </a:r>
          </a:p>
          <a:p>
            <a:r>
              <a:rPr lang="en-US" sz="1200" dirty="0">
                <a:solidFill>
                  <a:schemeClr val="tx1"/>
                </a:solidFill>
              </a:rPr>
              <a:t>Transmission Rate: 0.1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Recovery Rate: 0.05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D1D2419-DB5A-F896-5F07-B2C36A65D1EF}"/>
              </a:ext>
            </a:extLst>
          </p:cNvPr>
          <p:cNvSpPr txBox="1">
            <a:spLocks/>
          </p:cNvSpPr>
          <p:nvPr/>
        </p:nvSpPr>
        <p:spPr>
          <a:xfrm>
            <a:off x="2746728" y="4486392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9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B6F3964F-D4AC-7C73-BAEC-29CC727E4140}"/>
              </a:ext>
            </a:extLst>
          </p:cNvPr>
          <p:cNvSpPr txBox="1">
            <a:spLocks/>
          </p:cNvSpPr>
          <p:nvPr/>
        </p:nvSpPr>
        <p:spPr>
          <a:xfrm>
            <a:off x="8582249" y="4486392"/>
            <a:ext cx="751278" cy="308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Figure 10</a:t>
            </a:r>
          </a:p>
        </p:txBody>
      </p:sp>
    </p:spTree>
    <p:extLst>
      <p:ext uri="{BB962C8B-B14F-4D97-AF65-F5344CB8AC3E}">
        <p14:creationId xmlns:p14="http://schemas.microsoft.com/office/powerpoint/2010/main" val="64844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946B-0EB3-F930-3145-E534649B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8DBBC-6078-62DF-B2C3-3C5A65051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Expanded SIR to include two new states for Exposed and Dead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Changed the transmission rate to a time dependent variable to reflect lockdown strategy impacts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Analyzed an economic impact of the epidemic model from a productivity output perspective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Executed a economic impact sensitivity analysis on the updated models evaluating lockdown strategies against Value of Life and GDP </a:t>
            </a:r>
          </a:p>
        </p:txBody>
      </p:sp>
    </p:spTree>
    <p:extLst>
      <p:ext uri="{BB962C8B-B14F-4D97-AF65-F5344CB8AC3E}">
        <p14:creationId xmlns:p14="http://schemas.microsoft.com/office/powerpoint/2010/main" val="420089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9DFB3-1024-0C7C-99AA-6B2D0826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DE63-D944-BC32-9567-FFF95042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D8587-7611-C238-3A18-5553465FB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r>
              <a:rPr lang="en-US" dirty="0"/>
              <a:t>[1] AlQadi, Hadeel, and Majid Bani-Yaghoub. “Incorporating global dynamics to improve the </a:t>
            </a:r>
            <a:r>
              <a:rPr lang="en-US" dirty="0" err="1"/>
              <a:t>accuracyof</a:t>
            </a:r>
            <a:r>
              <a:rPr lang="en-US" dirty="0"/>
              <a:t> disease models: Example of a COVID-19 SIR model.” </a:t>
            </a:r>
            <a:r>
              <a:rPr lang="en-US" dirty="0" err="1"/>
              <a:t>PLoS</a:t>
            </a:r>
            <a:r>
              <a:rPr lang="en-US" dirty="0"/>
              <a:t> ONE, vol. 17, no. 4, Apr. 2022, p.e0265815. </a:t>
            </a:r>
            <a:r>
              <a:rPr lang="en-US" dirty="0">
                <a:hlinkClick r:id="rId2"/>
              </a:rPr>
              <a:t>https://doi:10.1371/journal.pone.0265815</a:t>
            </a:r>
            <a:endParaRPr lang="en-US" dirty="0"/>
          </a:p>
          <a:p>
            <a:pPr marL="201168" lvl="1" indent="0">
              <a:buNone/>
            </a:pPr>
            <a:r>
              <a:rPr lang="en-US" dirty="0"/>
              <a:t>[2]“Fast Facts on U.S. Hospitals, 2025 — AHA.” American Hospital Association, 31 Jan. 2025,www.aha.org/statistics/fast-facts-us-hospitals.</a:t>
            </a:r>
          </a:p>
          <a:p>
            <a:pPr marL="201168" lvl="1" indent="0">
              <a:buNone/>
            </a:pPr>
            <a:r>
              <a:rPr lang="en-US" dirty="0"/>
              <a:t>[3] Beckley, Ross, et al. “Modeling epidemics with differential </a:t>
            </a:r>
            <a:r>
              <a:rPr lang="en-US" dirty="0" err="1"/>
              <a:t>equations.”https</a:t>
            </a:r>
            <a:r>
              <a:rPr lang="en-US" dirty="0"/>
              <a:t>://www.tnstate.edu/mathematics/mathreu/filesreu/GroupProjectSIR.pdf, Tennessee </a:t>
            </a:r>
            <a:r>
              <a:rPr lang="en-US" dirty="0" err="1"/>
              <a:t>StateUniversity</a:t>
            </a:r>
            <a:r>
              <a:rPr lang="en-US" dirty="0"/>
              <a:t>, 21 June 2023, www.tnstate.edu/mathematics/mathreu/filesreu/GroupProjectSIR.pdf.Accessed 5 July 2025</a:t>
            </a:r>
          </a:p>
          <a:p>
            <a:pPr marL="201168" lvl="1" indent="0">
              <a:buNone/>
            </a:pPr>
            <a:r>
              <a:rPr lang="en-US" dirty="0"/>
              <a:t>[4] Gibbs, M, Mengel, F., and </a:t>
            </a:r>
            <a:r>
              <a:rPr lang="en-US" dirty="0" err="1"/>
              <a:t>Siemroth</a:t>
            </a:r>
            <a:r>
              <a:rPr lang="en-US" dirty="0"/>
              <a:t>, C (2023). Work From Home and </a:t>
            </a:r>
            <a:r>
              <a:rPr lang="en-US" dirty="0" err="1"/>
              <a:t>Productiv-ity</a:t>
            </a:r>
            <a:r>
              <a:rPr lang="en-US" dirty="0"/>
              <a:t>: Evidence from Personnel and Analytics Data on Information Technology Professionals. </a:t>
            </a:r>
            <a:r>
              <a:rPr lang="en-US" dirty="0" err="1"/>
              <a:t>Journalof</a:t>
            </a:r>
            <a:r>
              <a:rPr lang="en-US" dirty="0"/>
              <a:t> Political Economy Microeconomics 2023 1:1, 7-41. https://doi.org/10.1086/721803</a:t>
            </a:r>
          </a:p>
          <a:p>
            <a:pPr marL="201168" lvl="1" indent="0">
              <a:buNone/>
            </a:pPr>
            <a:r>
              <a:rPr lang="en-US" dirty="0"/>
              <a:t>[5] Federal Aviation Administration. (2024). Treatment of the values of life and injury in economic analysis. U.S. Department of Transportation. </a:t>
            </a:r>
            <a:r>
              <a:rPr lang="en-US" dirty="0">
                <a:hlinkClick r:id="rId3"/>
              </a:rPr>
              <a:t>https://www.faa.gov/regulations_policies/policy_guidance/benefit_cost/econ-value-section-2-tx-values.pdf</a:t>
            </a:r>
            <a:endParaRPr lang="en-US" dirty="0"/>
          </a:p>
          <a:p>
            <a:pPr marL="201168" lvl="1" indent="0">
              <a:buNone/>
            </a:pPr>
            <a:r>
              <a:rPr lang="en-US" dirty="0"/>
              <a:t>[6] Kapinos, Kandice A., et al. “Inpatient Costs of Treating Patients With COVID-19.” JAMA </a:t>
            </a:r>
            <a:r>
              <a:rPr lang="en-US" dirty="0" err="1"/>
              <a:t>NetworkOpen</a:t>
            </a:r>
            <a:r>
              <a:rPr lang="en-US" dirty="0"/>
              <a:t>, vol. 7, no. 1, Jan. 2024, p. e2350145, doi:10.1001/jamanetworkopen.2023.50145.</a:t>
            </a:r>
          </a:p>
          <a:p>
            <a:pPr marL="201168" lvl="1" indent="0">
              <a:buNone/>
            </a:pPr>
            <a:r>
              <a:rPr lang="en-US" dirty="0"/>
              <a:t>[7] Manica, M., Litvinova, M., De Bellis, A., Guzzetta, G., Mancuso, P., </a:t>
            </a:r>
            <a:r>
              <a:rPr lang="en-US" dirty="0" err="1"/>
              <a:t>Vicentini</a:t>
            </a:r>
            <a:r>
              <a:rPr lang="en-US" dirty="0"/>
              <a:t>, M., Venturelli, </a:t>
            </a:r>
            <a:r>
              <a:rPr lang="en-US" dirty="0" err="1"/>
              <a:t>F.,Bisaccia</a:t>
            </a:r>
            <a:r>
              <a:rPr lang="en-US" dirty="0"/>
              <a:t>, E., Bento, A. I., Poletti, P., Marziano, V., </a:t>
            </a:r>
            <a:r>
              <a:rPr lang="en-US" dirty="0" err="1"/>
              <a:t>Zardini</a:t>
            </a:r>
            <a:r>
              <a:rPr lang="en-US" dirty="0"/>
              <a:t>, A., D’Andrea, V., Trentini, F., Bella, </a:t>
            </a:r>
            <a:r>
              <a:rPr lang="en-US" dirty="0" err="1"/>
              <a:t>A.,Riccardo</a:t>
            </a:r>
            <a:r>
              <a:rPr lang="en-US" dirty="0"/>
              <a:t>, F., Pezzotti, P., </a:t>
            </a:r>
            <a:r>
              <a:rPr lang="en-US" dirty="0" err="1"/>
              <a:t>Ajelli</a:t>
            </a:r>
            <a:r>
              <a:rPr lang="en-US" dirty="0"/>
              <a:t>, M., Rossi, P. G., &amp; </a:t>
            </a:r>
            <a:r>
              <a:rPr lang="en-US" dirty="0" err="1"/>
              <a:t>Merler</a:t>
            </a:r>
            <a:r>
              <a:rPr lang="en-US" dirty="0"/>
              <a:t>, S. (2022). Estimation of the </a:t>
            </a:r>
            <a:r>
              <a:rPr lang="en-US" dirty="0" err="1"/>
              <a:t>incubationperiod</a:t>
            </a:r>
            <a:r>
              <a:rPr lang="en-US" dirty="0"/>
              <a:t> and generation time of SARS-CoV-2 Alpha and Delta variants from contact tracing </a:t>
            </a:r>
            <a:r>
              <a:rPr lang="en-US" dirty="0" err="1"/>
              <a:t>data.Epidemiology</a:t>
            </a:r>
            <a:r>
              <a:rPr lang="en-US" dirty="0"/>
              <a:t> and Infection, 151. </a:t>
            </a:r>
            <a:r>
              <a:rPr lang="en-US" dirty="0">
                <a:hlinkClick r:id="rId4"/>
              </a:rPr>
              <a:t>https://doi.org/10.1017/s0950268822001947</a:t>
            </a:r>
            <a:endParaRPr lang="en-US" dirty="0"/>
          </a:p>
          <a:p>
            <a:pPr marL="201168" lvl="1" indent="0">
              <a:buNone/>
            </a:pPr>
            <a:r>
              <a:rPr lang="en-US" dirty="0"/>
              <a:t>[8] Mathieu, E., Ritchie, H., </a:t>
            </a:r>
            <a:r>
              <a:rPr lang="en-US" dirty="0" err="1"/>
              <a:t>Rod´es</a:t>
            </a:r>
            <a:r>
              <a:rPr lang="en-US" dirty="0"/>
              <a:t>-Guirao, L., Appel, C., Gavrilov, D., Giattino, C., Hasell, J., </a:t>
            </a:r>
            <a:r>
              <a:rPr lang="en-US" dirty="0" err="1"/>
              <a:t>Macdon-ald</a:t>
            </a:r>
            <a:r>
              <a:rPr lang="en-US" dirty="0"/>
              <a:t>, B., </a:t>
            </a:r>
            <a:r>
              <a:rPr lang="en-US" dirty="0" err="1"/>
              <a:t>Dattani</a:t>
            </a:r>
            <a:r>
              <a:rPr lang="en-US" dirty="0"/>
              <a:t>, S., </a:t>
            </a:r>
            <a:r>
              <a:rPr lang="en-US" dirty="0" err="1"/>
              <a:t>Beltekian</a:t>
            </a:r>
            <a:r>
              <a:rPr lang="en-US" dirty="0"/>
              <a:t>, D., Ortiz-Ospina, E., &amp; Roser, M. (2020, December 16). Coronavirus(COVID-19) vaccinations. Our World in Data. </a:t>
            </a:r>
            <a:r>
              <a:rPr lang="en-US" dirty="0">
                <a:hlinkClick r:id="rId5"/>
              </a:rPr>
              <a:t>https://ourworldindata.org/covid-vaccinations</a:t>
            </a:r>
            <a:endParaRPr lang="en-US" dirty="0"/>
          </a:p>
          <a:p>
            <a:pPr marL="201168" lvl="1" indent="0">
              <a:buNone/>
            </a:pPr>
            <a:r>
              <a:rPr lang="nn-NO" dirty="0"/>
              <a:t>[9] Oregon H.B. 2697, 82nd Leg., Reg. Sess. (2023</a:t>
            </a:r>
            <a:endParaRPr lang="en-US" dirty="0"/>
          </a:p>
          <a:p>
            <a:pPr marL="201168" lvl="1" indent="0">
              <a:buNone/>
            </a:pPr>
            <a:r>
              <a:rPr lang="en-US" dirty="0"/>
              <a:t>[10] Oelsner, E. C., Sun, Y., Balte, P. P., Allen, N. B., Andrews, H., Carson, A., Cole, S. A., Coresh, </a:t>
            </a:r>
            <a:r>
              <a:rPr lang="en-US" dirty="0" err="1"/>
              <a:t>J.,Couper</a:t>
            </a:r>
            <a:r>
              <a:rPr lang="en-US" dirty="0"/>
              <a:t>, D., Cushman, M., </a:t>
            </a:r>
            <a:r>
              <a:rPr lang="en-US" dirty="0" err="1"/>
              <a:t>Daviglus</a:t>
            </a:r>
            <a:r>
              <a:rPr lang="en-US" dirty="0"/>
              <a:t>, M., Demmer, R. T., Elkind, M. S. V., Gallo, L. C., </a:t>
            </a:r>
            <a:r>
              <a:rPr lang="en-US" dirty="0" err="1"/>
              <a:t>Gutierrez,J</a:t>
            </a:r>
            <a:r>
              <a:rPr lang="en-US" dirty="0"/>
              <a:t>. D., Howard, V. J., Isasi, C. R., Judd, S. E., Kanaya, A. M., . . . Post, W. S. (2024). Epi-</a:t>
            </a:r>
            <a:r>
              <a:rPr lang="en-US" dirty="0" err="1"/>
              <a:t>demiologic</a:t>
            </a:r>
            <a:r>
              <a:rPr lang="en-US" dirty="0"/>
              <a:t> features of recovery from SARS-COV-2 infection. JAMA Network Open, 7(6), e2417440.https://doi.org/10.1001/jamanetworkopen.2024.17440</a:t>
            </a:r>
          </a:p>
          <a:p>
            <a:pPr marL="201168" lvl="1" indent="0">
              <a:buNone/>
            </a:pPr>
            <a:r>
              <a:rPr lang="en-US" dirty="0"/>
              <a:t>[11] Scotch. Dunbar’s Number. modelthinkers.com/mental-model/</a:t>
            </a:r>
            <a:r>
              <a:rPr lang="en-US" dirty="0" err="1"/>
              <a:t>dunbars</a:t>
            </a:r>
            <a:r>
              <a:rPr lang="en-US" dirty="0"/>
              <a:t>-number.</a:t>
            </a:r>
          </a:p>
        </p:txBody>
      </p:sp>
    </p:spTree>
    <p:extLst>
      <p:ext uri="{BB962C8B-B14F-4D97-AF65-F5344CB8AC3E}">
        <p14:creationId xmlns:p14="http://schemas.microsoft.com/office/powerpoint/2010/main" val="1052405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5DCA-DFE9-0D76-4A18-9EEF8D47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55BB-C87D-4C46-21F6-24DC5E9F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Items – Long Term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39AA82-037C-3E18-D2DD-2E173594B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12" y="2433978"/>
            <a:ext cx="3610451" cy="2292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D5D033-AAFD-DD69-D227-6CBE72CD33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57"/>
          <a:stretch>
            <a:fillRect/>
          </a:stretch>
        </p:blipFill>
        <p:spPr>
          <a:xfrm>
            <a:off x="4163253" y="2433979"/>
            <a:ext cx="3800885" cy="2292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252891-30FB-99EE-C50E-6BA015FF5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139" y="2433978"/>
            <a:ext cx="3673253" cy="23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413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2052</Words>
  <Application>Microsoft Office PowerPoint</Application>
  <PresentationFormat>Widescreen</PresentationFormat>
  <Paragraphs>190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Bookman Old Style</vt:lpstr>
      <vt:lpstr>Calibri</vt:lpstr>
      <vt:lpstr>Franklin Gothic Book</vt:lpstr>
      <vt:lpstr>RetrospectVTI</vt:lpstr>
      <vt:lpstr>Expansion of the Epidemic Model and Economic Analysis</vt:lpstr>
      <vt:lpstr>Agenda</vt:lpstr>
      <vt:lpstr>Problem and Motivation</vt:lpstr>
      <vt:lpstr>SIR to SEIRD (Beckley et al.)[3]</vt:lpstr>
      <vt:lpstr>SIR to SEIRD cont.</vt:lpstr>
      <vt:lpstr>SIR to SEIRD ODES</vt:lpstr>
      <vt:lpstr>Economic Costs of Epidemic</vt:lpstr>
      <vt:lpstr>Assumptions</vt:lpstr>
      <vt:lpstr>SEIRD Models Results</vt:lpstr>
      <vt:lpstr>Productivity Associated with Lockdown Strategies</vt:lpstr>
      <vt:lpstr>Optimal Sharpness</vt:lpstr>
      <vt:lpstr>Sensitivity Analysis</vt:lpstr>
      <vt:lpstr>Conclusion</vt:lpstr>
      <vt:lpstr>References</vt:lpstr>
      <vt:lpstr>Appendix Items – Long Term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Scannell</dc:creator>
  <cp:lastModifiedBy>Sean Scannell</cp:lastModifiedBy>
  <cp:revision>29</cp:revision>
  <dcterms:created xsi:type="dcterms:W3CDTF">2025-07-12T20:44:41Z</dcterms:created>
  <dcterms:modified xsi:type="dcterms:W3CDTF">2025-07-13T21:43:51Z</dcterms:modified>
</cp:coreProperties>
</file>